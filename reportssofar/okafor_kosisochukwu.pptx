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7" r:id="rId2"/>
    <p:sldId id="260" r:id="rId3"/>
    <p:sldId id="263" r:id="rId4"/>
    <p:sldId id="264" r:id="rId5"/>
    <p:sldId id="268" r:id="rId6"/>
    <p:sldId id="261" r:id="rId7"/>
    <p:sldId id="269" r:id="rId8"/>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handoutMaster" Target="handoutMasters/handoutMaster1.xml" /><Relationship Id="rId4" Type="http://schemas.openxmlformats.org/officeDocument/2006/relationships/slide" Target="slides/slide3.xml" /><Relationship Id="rId9" Type="http://schemas.openxmlformats.org/officeDocument/2006/relationships/notesMaster" Target="notesMasters/notesMaster1.xml" /><Relationship Id="rId14" Type="http://schemas.openxmlformats.org/officeDocument/2006/relationships/tableStyles" Target="tableStyle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E9A30BF6-7621-430F-BF1D-D19D812B588C}" type="datetimeFigureOut">
              <a:rPr lang="en-GB" smtClean="0"/>
              <a:t>28/04/2026</a:t>
            </a:fld>
            <a:endParaRPr lang="en-GB"/>
          </a:p>
        </p:txBody>
      </p:sp>
      <p:sp>
        <p:nvSpPr>
          <p:cNvPr id="4" name="Footer Placehold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4ED5777D-0745-4AE3-89C2-273EE7161840}" type="slidenum">
              <a:rPr lang="en-GB" smtClean="0"/>
              <a:t>‹#›</a:t>
            </a:fld>
            <a:endParaRPr lang="en-GB"/>
          </a:p>
        </p:txBody>
      </p:sp>
    </p:spTree>
    <p:extLst>
      <p:ext uri="{BB962C8B-B14F-4D97-AF65-F5344CB8AC3E}">
        <p14:creationId xmlns:p14="http://schemas.microsoft.com/office/powerpoint/2010/main" val="182067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958" cy="49576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1098" y="1"/>
            <a:ext cx="2944958" cy="495765"/>
          </a:xfrm>
          <a:prstGeom prst="rect">
            <a:avLst/>
          </a:prstGeom>
        </p:spPr>
        <p:txBody>
          <a:bodyPr vert="horz" lIns="91440" tIns="45720" rIns="91440" bIns="45720" rtlCol="0"/>
          <a:lstStyle>
            <a:lvl1pPr algn="r">
              <a:defRPr sz="1200"/>
            </a:lvl1pPr>
          </a:lstStyle>
          <a:p>
            <a:fld id="{819D3626-7678-463A-B931-DA160CFBCF66}" type="datetimeFigureOut">
              <a:rPr lang="en-GB" smtClean="0"/>
              <a:t>28/04/2026</a:t>
            </a:fld>
            <a:endParaRPr lang="en-GB"/>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606" y="4752398"/>
            <a:ext cx="5438464" cy="388717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8485"/>
            <a:ext cx="2944958" cy="49576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1098" y="9378485"/>
            <a:ext cx="2944958" cy="495765"/>
          </a:xfrm>
          <a:prstGeom prst="rect">
            <a:avLst/>
          </a:prstGeom>
        </p:spPr>
        <p:txBody>
          <a:bodyPr vert="horz" lIns="91440" tIns="45720" rIns="91440" bIns="45720" rtlCol="0" anchor="b"/>
          <a:lstStyle>
            <a:lvl1pPr algn="r">
              <a:defRPr sz="1200"/>
            </a:lvl1pPr>
          </a:lstStyle>
          <a:p>
            <a:fld id="{E7FBE6E5-A34C-44AB-8866-F8A3F4B85DD6}" type="slidenum">
              <a:rPr lang="en-GB" smtClean="0"/>
              <a:t>‹#›</a:t>
            </a:fld>
            <a:endParaRPr lang="en-GB"/>
          </a:p>
        </p:txBody>
      </p:sp>
    </p:spTree>
    <p:extLst>
      <p:ext uri="{BB962C8B-B14F-4D97-AF65-F5344CB8AC3E}">
        <p14:creationId xmlns:p14="http://schemas.microsoft.com/office/powerpoint/2010/main" val="304920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1CEFE56-E409-4611-84B6-78D55979C5E7}" type="datetime1">
              <a:rPr lang="en-GB" smtClean="0"/>
              <a:t>28/04/2026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15612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5301482-A7F7-44F1-A175-734AED33DA15}" type="datetime1">
              <a:rPr lang="en-GB" smtClean="0"/>
              <a:t>28/04/2026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403474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66DF6F9-F195-40B3-A65B-F390EA6476BF}" type="datetime1">
              <a:rPr lang="en-GB" smtClean="0"/>
              <a:t>28/04/2026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9693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63BBE8F-6F0A-4687-85B5-47336FB8B589}" type="datetime1">
              <a:rPr lang="en-GB" smtClean="0"/>
              <a:t>28/04/2026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10307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9F2696A-03E5-48AD-BD16-61940EDEE003}" type="datetime1">
              <a:rPr lang="en-GB" smtClean="0"/>
              <a:t>28/04/2026</a:t>
            </a:fld>
            <a:endParaRPr lang="en-GB"/>
          </a:p>
        </p:txBody>
      </p:sp>
      <p:sp>
        <p:nvSpPr>
          <p:cNvPr id="8" name="Footer Placeholder 7"/>
          <p:cNvSpPr>
            <a:spLocks noGrp="1"/>
          </p:cNvSpPr>
          <p:nvPr>
            <p:ph type="ftr" sz="quarter" idx="11"/>
          </p:nvPr>
        </p:nvSpPr>
        <p:spPr/>
        <p:txBody>
          <a:bodyPr/>
          <a:lstStyle/>
          <a:p>
            <a:r>
              <a:rPr lang="en-US"/>
              <a:t>Information Technology Department / Seminar Presentation 2021</a:t>
            </a:r>
            <a:endParaRPr lang="en-GB"/>
          </a:p>
        </p:txBody>
      </p:sp>
      <p:sp>
        <p:nvSpPr>
          <p:cNvPr id="9" name="Slide Number Placeholder 8"/>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72900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FF28B43-AD91-4B0A-B352-8AD5E6AB1017}" type="datetime1">
              <a:rPr lang="en-GB" smtClean="0"/>
              <a:t>28/04/2026</a:t>
            </a:fld>
            <a:endParaRPr lang="en-GB"/>
          </a:p>
        </p:txBody>
      </p:sp>
      <p:sp>
        <p:nvSpPr>
          <p:cNvPr id="4" name="Footer Placeholder 3"/>
          <p:cNvSpPr>
            <a:spLocks noGrp="1"/>
          </p:cNvSpPr>
          <p:nvPr>
            <p:ph type="ftr" sz="quarter" idx="11"/>
          </p:nvPr>
        </p:nvSpPr>
        <p:spPr/>
        <p:txBody>
          <a:bodyPr/>
          <a:lstStyle/>
          <a:p>
            <a:r>
              <a:rPr lang="en-US"/>
              <a:t>Information Technology Department / Seminar Presentation 2021</a:t>
            </a:r>
            <a:endParaRPr lang="en-GB"/>
          </a:p>
        </p:txBody>
      </p:sp>
      <p:sp>
        <p:nvSpPr>
          <p:cNvPr id="5" name="Slide Number Placeholder 4"/>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54629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D69C94-1FC0-41EC-9C0A-AB52040020ED}" type="datetime1">
              <a:rPr lang="en-GB" smtClean="0"/>
              <a:t>28/04/2026</a:t>
            </a:fld>
            <a:endParaRPr lang="en-GB"/>
          </a:p>
        </p:txBody>
      </p:sp>
      <p:sp>
        <p:nvSpPr>
          <p:cNvPr id="3" name="Footer Placeholder 2"/>
          <p:cNvSpPr>
            <a:spLocks noGrp="1"/>
          </p:cNvSpPr>
          <p:nvPr>
            <p:ph type="ftr" sz="quarter" idx="11"/>
          </p:nvPr>
        </p:nvSpPr>
        <p:spPr/>
        <p:txBody>
          <a:bodyPr/>
          <a:lstStyle/>
          <a:p>
            <a:r>
              <a:rPr lang="en-US"/>
              <a:t>Information Technology Department / Seminar Presentation 2021</a:t>
            </a:r>
            <a:endParaRPr lang="en-GB"/>
          </a:p>
        </p:txBody>
      </p:sp>
      <p:sp>
        <p:nvSpPr>
          <p:cNvPr id="4" name="Slide Number Placeholder 3"/>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73617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F9D360-BA16-419B-BDF3-CE0285C51E50}" type="datetime1">
              <a:rPr lang="en-GB" smtClean="0"/>
              <a:t>28/04/2026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231986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A346B3-4381-474C-9C47-DF3F7EFD488B}" type="datetime1">
              <a:rPr lang="en-GB" smtClean="0"/>
              <a:t>28/04/2026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15382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0579F78-A794-45F8-B8CE-795CE3B27278}" type="datetime1">
              <a:rPr lang="en-GB" smtClean="0"/>
              <a:t>28/04/2026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72618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49D5E-91C7-4E4C-AF67-67C7E168A5A4}" type="datetime1">
              <a:rPr lang="en-GB" smtClean="0"/>
              <a:t>28/04/2026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880169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14E86-C9A5-4B56-BCDB-225823666A33}" type="datetime1">
              <a:rPr lang="en-GB" smtClean="0"/>
              <a:t>28/04/2026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Information Technology Department / Seminar Presentation 2021</a:t>
            </a: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CB7500-84E7-42C8-9A57-AC33187A24A8}" type="slidenum">
              <a:rPr lang="en-GB" smtClean="0"/>
              <a:t>‹#›</a:t>
            </a:fld>
            <a:endParaRPr lang="en-GB"/>
          </a:p>
        </p:txBody>
      </p:sp>
    </p:spTree>
    <p:extLst>
      <p:ext uri="{BB962C8B-B14F-4D97-AF65-F5344CB8AC3E}">
        <p14:creationId xmlns:p14="http://schemas.microsoft.com/office/powerpoint/2010/main" val="149582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3.jpeg" /><Relationship Id="rId1" Type="http://schemas.openxmlformats.org/officeDocument/2006/relationships/slideLayout" Target="../slideLayouts/slideLayout7.xml" /><Relationship Id="rId5" Type="http://schemas.openxmlformats.org/officeDocument/2006/relationships/image" Target="../media/image5.png" /><Relationship Id="rId4" Type="http://schemas.openxmlformats.org/officeDocument/2006/relationships/image" Target="../media/image4.svg" /></Relationships>
</file>

<file path=ppt/slides/_rels/slide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6.jpeg"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5.png" /><Relationship Id="rId4" Type="http://schemas.openxmlformats.org/officeDocument/2006/relationships/image" Target="../media/image7.png" /></Relationships>
</file>

<file path=ppt/slides/_rels/slide4.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9.jpeg" /><Relationship Id="rId1" Type="http://schemas.openxmlformats.org/officeDocument/2006/relationships/slideLayout" Target="../slideLayouts/slideLayout7.xml" /><Relationship Id="rId6" Type="http://schemas.openxmlformats.org/officeDocument/2006/relationships/image" Target="../media/image12.png" /><Relationship Id="rId5" Type="http://schemas.openxmlformats.org/officeDocument/2006/relationships/image" Target="../media/image11.png" /><Relationship Id="rId4" Type="http://schemas.openxmlformats.org/officeDocument/2006/relationships/image" Target="../media/image10.png" /></Relationships>
</file>

<file path=ppt/slides/_rels/slide5.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jpg" /><Relationship Id="rId7" Type="http://schemas.openxmlformats.org/officeDocument/2006/relationships/image" Target="../media/image16.tmp" /><Relationship Id="rId2" Type="http://schemas.openxmlformats.org/officeDocument/2006/relationships/image" Target="../media/image6.jpeg" /><Relationship Id="rId1" Type="http://schemas.openxmlformats.org/officeDocument/2006/relationships/slideLayout" Target="../slideLayouts/slideLayout7.xml" /><Relationship Id="rId6" Type="http://schemas.openxmlformats.org/officeDocument/2006/relationships/image" Target="../media/image15.png" /><Relationship Id="rId5" Type="http://schemas.openxmlformats.org/officeDocument/2006/relationships/image" Target="../media/image14.png" /><Relationship Id="rId4" Type="http://schemas.openxmlformats.org/officeDocument/2006/relationships/image" Target="../media/image13.png" /><Relationship Id="rId9" Type="http://schemas.openxmlformats.org/officeDocument/2006/relationships/image" Target="../media/image17.jpeg" /></Relationships>
</file>

<file path=ppt/slides/_rels/slide6.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8.jpe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9.jpeg" /><Relationship Id="rId1" Type="http://schemas.openxmlformats.org/officeDocument/2006/relationships/slideLayout" Target="../slideLayouts/slideLayout7.xml" /><Relationship Id="rId6" Type="http://schemas.openxmlformats.org/officeDocument/2006/relationships/image" Target="../media/image22.png" /><Relationship Id="rId5" Type="http://schemas.openxmlformats.org/officeDocument/2006/relationships/image" Target="../media/image21.png" /><Relationship Id="rId4" Type="http://schemas.openxmlformats.org/officeDocument/2006/relationships/image" Target="../media/image2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175" y="802840"/>
            <a:ext cx="10515600" cy="1325563"/>
          </a:xfrm>
        </p:spPr>
        <p:txBody>
          <a:bodyPr>
            <a:normAutofit fontScale="90000"/>
          </a:bodyPr>
          <a:lstStyle/>
          <a:p>
            <a:pPr algn="ctr"/>
            <a:r>
              <a:rPr lang="en-US" b="1" dirty="0">
                <a:latin typeface="Corbel" panose="020B0503020204020204" pitchFamily="34" charset="0"/>
              </a:rPr>
              <a:t>MULTI-AGENT REINFORCEMENT LEARNING FOR ADAPTIVE TCP CONGESTION CONTROL</a:t>
            </a:r>
            <a:endParaRPr lang="en-GB" sz="4000" dirty="0">
              <a:latin typeface="Corbel" panose="020B0503020204020204" pitchFamily="34" charset="0"/>
              <a:cs typeface="Arial" panose="020B0604020202020204" pitchFamily="34" charset="0"/>
            </a:endParaRPr>
          </a:p>
        </p:txBody>
      </p:sp>
      <p:sp>
        <p:nvSpPr>
          <p:cNvPr id="3" name="Content Placeholder 2"/>
          <p:cNvSpPr>
            <a:spLocks noGrp="1"/>
          </p:cNvSpPr>
          <p:nvPr>
            <p:ph idx="1"/>
          </p:nvPr>
        </p:nvSpPr>
        <p:spPr>
          <a:xfrm>
            <a:off x="1720272" y="3026536"/>
            <a:ext cx="9011407" cy="2859110"/>
          </a:xfrm>
        </p:spPr>
        <p:txBody>
          <a:bodyPr>
            <a:normAutofit/>
          </a:bodyPr>
          <a:lstStyle/>
          <a:p>
            <a:pPr marL="0" indent="0" algn="ctr">
              <a:buNone/>
            </a:pPr>
            <a:r>
              <a:rPr lang="en-GB" sz="3200" dirty="0">
                <a:solidFill>
                  <a:srgbClr val="FF0000"/>
                </a:solidFill>
                <a:latin typeface="Corbel" panose="020B0503020204020204" pitchFamily="34" charset="0"/>
                <a:cs typeface="Arial" panose="020B0604020202020204" pitchFamily="34" charset="0"/>
              </a:rPr>
              <a:t>OKAFOR KOSISOCHUKWU JOHNPAUL</a:t>
            </a:r>
          </a:p>
          <a:p>
            <a:pPr marL="0" indent="0" algn="ctr">
              <a:buNone/>
            </a:pPr>
            <a:r>
              <a:rPr lang="en-GB" sz="3200" dirty="0">
                <a:solidFill>
                  <a:srgbClr val="FF0000"/>
                </a:solidFill>
                <a:latin typeface="Corbel" panose="020B0503020204020204" pitchFamily="34" charset="0"/>
                <a:cs typeface="Arial" panose="020B0604020202020204" pitchFamily="34" charset="0"/>
              </a:rPr>
              <a:t>20211287502</a:t>
            </a:r>
          </a:p>
          <a:p>
            <a:pPr marL="0" indent="0" algn="ctr">
              <a:buNone/>
            </a:pPr>
            <a:endParaRPr lang="en-GB" dirty="0">
              <a:solidFill>
                <a:srgbClr val="FF0000"/>
              </a:solidFill>
              <a:latin typeface="Corbel" panose="020B0503020204020204" pitchFamily="34" charset="0"/>
              <a:cs typeface="Arial" panose="020B0604020202020204" pitchFamily="34" charset="0"/>
            </a:endParaRPr>
          </a:p>
          <a:p>
            <a:pPr marL="0" indent="0" algn="ctr">
              <a:buNone/>
            </a:pPr>
            <a:endParaRPr lang="en-GB" dirty="0">
              <a:solidFill>
                <a:srgbClr val="FF0000"/>
              </a:solidFill>
              <a:latin typeface="Corbel" panose="020B0503020204020204" pitchFamily="34" charset="0"/>
              <a:cs typeface="Arial" panose="020B0604020202020204" pitchFamily="34" charset="0"/>
            </a:endParaRPr>
          </a:p>
          <a:p>
            <a:pPr marL="0" indent="0" algn="ctr">
              <a:buNone/>
            </a:pPr>
            <a:r>
              <a:rPr lang="en-GB" sz="3200" dirty="0">
                <a:solidFill>
                  <a:srgbClr val="0070C0"/>
                </a:solidFill>
                <a:latin typeface="Corbel" panose="020B0503020204020204" pitchFamily="34" charset="0"/>
                <a:cs typeface="Arial" panose="020B0604020202020204" pitchFamily="34" charset="0"/>
              </a:rPr>
              <a:t>SUPERVISOR: Dr. IKENNA CAESAR NWANDU</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48267" y="77274"/>
            <a:ext cx="683231" cy="739239"/>
          </a:xfrm>
          <a:prstGeom prst="rect">
            <a:avLst/>
          </a:prstGeom>
        </p:spPr>
      </p:pic>
      <p:sp>
        <p:nvSpPr>
          <p:cNvPr id="5" name="Footer Placeholder 4"/>
          <p:cNvSpPr>
            <a:spLocks noGrp="1"/>
          </p:cNvSpPr>
          <p:nvPr>
            <p:ph type="ftr" sz="quarter" idx="11"/>
          </p:nvPr>
        </p:nvSpPr>
        <p:spPr/>
        <p:txBody>
          <a:bodyPr/>
          <a:lstStyle/>
          <a:p>
            <a:r>
              <a:rPr lang="en-US" dirty="0">
                <a:latin typeface="Corbel" panose="020B0503020204020204" pitchFamily="34" charset="0"/>
              </a:rPr>
              <a:t>Department of Software Engineering -  Seminar  ©2026</a:t>
            </a:r>
            <a:endParaRPr lang="en-GB" dirty="0">
              <a:latin typeface="Corbel" panose="020B0503020204020204" pitchFamily="34" charset="0"/>
            </a:endParaRPr>
          </a:p>
        </p:txBody>
      </p:sp>
      <p:sp>
        <p:nvSpPr>
          <p:cNvPr id="6" name="Slide Number Placeholder 5">
            <a:extLst>
              <a:ext uri="{FF2B5EF4-FFF2-40B4-BE49-F238E27FC236}">
                <a16:creationId xmlns:a16="http://schemas.microsoft.com/office/drawing/2014/main" id="{D5A1967E-D55A-4103-86BC-123CF935D49E}"/>
              </a:ext>
            </a:extLst>
          </p:cNvPr>
          <p:cNvSpPr>
            <a:spLocks noGrp="1"/>
          </p:cNvSpPr>
          <p:nvPr>
            <p:ph type="sldNum" sz="quarter" idx="12"/>
          </p:nvPr>
        </p:nvSpPr>
        <p:spPr/>
        <p:txBody>
          <a:bodyPr/>
          <a:lstStyle/>
          <a:p>
            <a:fld id="{60CB7500-84E7-42C8-9A57-AC33187A24A8}" type="slidenum">
              <a:rPr lang="en-GB" smtClean="0">
                <a:latin typeface="Corbel" panose="020B0503020204020204" pitchFamily="34" charset="0"/>
              </a:rPr>
              <a:t>1</a:t>
            </a:fld>
            <a:endParaRPr lang="en-GB" dirty="0">
              <a:latin typeface="Corbel" panose="020B0503020204020204" pitchFamily="34" charset="0"/>
            </a:endParaRPr>
          </a:p>
        </p:txBody>
      </p:sp>
      <p:pic>
        <p:nvPicPr>
          <p:cNvPr id="8" name="Picture 7" descr="A logo with green letters and a chip&#10;&#10;Description automatically generated">
            <a:extLst>
              <a:ext uri="{FF2B5EF4-FFF2-40B4-BE49-F238E27FC236}">
                <a16:creationId xmlns:a16="http://schemas.microsoft.com/office/drawing/2014/main" id="{10E194A0-085F-F8A6-417A-90D9FB370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43" y="191759"/>
            <a:ext cx="1028700" cy="624754"/>
          </a:xfrm>
          <a:prstGeom prst="rect">
            <a:avLst/>
          </a:prstGeom>
        </p:spPr>
      </p:pic>
    </p:spTree>
    <p:extLst>
      <p:ext uri="{BB962C8B-B14F-4D97-AF65-F5344CB8AC3E}">
        <p14:creationId xmlns:p14="http://schemas.microsoft.com/office/powerpoint/2010/main" val="381343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INTRODUCTION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5946" y="48783"/>
            <a:ext cx="828226" cy="896120"/>
          </a:xfrm>
          <a:prstGeom prst="rect">
            <a:avLst/>
          </a:prstGeom>
        </p:spPr>
      </p:pic>
      <p:sp>
        <p:nvSpPr>
          <p:cNvPr id="4" name="Footer Placeholder 3"/>
          <p:cNvSpPr>
            <a:spLocks noGrp="1"/>
          </p:cNvSpPr>
          <p:nvPr>
            <p:ph type="ftr" sz="quarter" idx="11"/>
          </p:nvPr>
        </p:nvSpPr>
        <p:spPr/>
        <p:txBody>
          <a:bodyPr/>
          <a:lstStyle/>
          <a:p>
            <a:r>
              <a:rPr lang="en-US" dirty="0">
                <a:latin typeface="Corbel" panose="020B0503020204020204" pitchFamily="34" charset="0"/>
              </a:rPr>
              <a:t>Department of Software Engineering -  Seminar  ©2026</a:t>
            </a:r>
            <a:endParaRPr lang="en-GB" dirty="0">
              <a:latin typeface="Corbel" panose="020B0503020204020204" pitchFamily="34" charset="0"/>
            </a:endParaRPr>
          </a:p>
        </p:txBody>
      </p:sp>
      <p:sp>
        <p:nvSpPr>
          <p:cNvPr id="5" name="Slide Number Placeholder 4">
            <a:extLst>
              <a:ext uri="{FF2B5EF4-FFF2-40B4-BE49-F238E27FC236}">
                <a16:creationId xmlns:a16="http://schemas.microsoft.com/office/drawing/2014/main" id="{C9AC4450-3E97-41C5-A1D7-8A59B3719115}"/>
              </a:ext>
            </a:extLst>
          </p:cNvPr>
          <p:cNvSpPr>
            <a:spLocks noGrp="1"/>
          </p:cNvSpPr>
          <p:nvPr>
            <p:ph type="sldNum" sz="quarter" idx="12"/>
          </p:nvPr>
        </p:nvSpPr>
        <p:spPr/>
        <p:txBody>
          <a:bodyPr/>
          <a:lstStyle/>
          <a:p>
            <a:fld id="{60CB7500-84E7-42C8-9A57-AC33187A24A8}" type="slidenum">
              <a:rPr lang="en-GB" smtClean="0">
                <a:latin typeface="Corbel" panose="020B0503020204020204" pitchFamily="34" charset="0"/>
              </a:rPr>
              <a:t>2</a:t>
            </a:fld>
            <a:endParaRPr lang="en-GB">
              <a:latin typeface="Corbel" panose="020B0503020204020204" pitchFamily="34" charset="0"/>
            </a:endParaRPr>
          </a:p>
        </p:txBody>
      </p:sp>
      <p:pic>
        <p:nvPicPr>
          <p:cNvPr id="7" name="Picture 6" descr="A logo with green letters and a chip&#10;&#10;Description automatically generated">
            <a:extLst>
              <a:ext uri="{FF2B5EF4-FFF2-40B4-BE49-F238E27FC236}">
                <a16:creationId xmlns:a16="http://schemas.microsoft.com/office/drawing/2014/main" id="{1E3A0C06-B168-5029-B395-43CBED696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202497"/>
            <a:ext cx="1028700" cy="476250"/>
          </a:xfrm>
          <a:prstGeom prst="rect">
            <a:avLst/>
          </a:prstGeom>
        </p:spPr>
      </p:pic>
      <p:pic>
        <p:nvPicPr>
          <p:cNvPr id="9" name="Google Shape;96;p14">
            <a:extLst>
              <a:ext uri="{FF2B5EF4-FFF2-40B4-BE49-F238E27FC236}">
                <a16:creationId xmlns:a16="http://schemas.microsoft.com/office/drawing/2014/main" id="{11090C41-009B-563B-3199-A2820BB66703}"/>
              </a:ext>
            </a:extLst>
          </p:cNvPr>
          <p:cNvPicPr preferRelativeResize="0"/>
          <p:nvPr/>
        </p:nvPicPr>
        <p:blipFill>
          <a:blip>
            <a:extLst>
              <a:ext uri="{96DAC541-7B7A-43D3-8B79-37D633B846F1}">
                <asvg:svgBlip xmlns:asvg="http://schemas.microsoft.com/office/drawing/2016/SVG/main" r:embed="rId4"/>
              </a:ext>
            </a:extLst>
          </a:blip>
          <a:srcRect/>
          <a:stretch/>
        </p:blipFill>
        <p:spPr>
          <a:xfrm>
            <a:off x="6334125" y="2123772"/>
            <a:ext cx="5086350" cy="3080240"/>
          </a:xfrm>
          <a:prstGeom prst="rect">
            <a:avLst/>
          </a:prstGeom>
          <a:noFill/>
          <a:ln>
            <a:noFill/>
          </a:ln>
        </p:spPr>
      </p:pic>
      <p:sp>
        <p:nvSpPr>
          <p:cNvPr id="11" name="Google Shape;102;p14">
            <a:extLst>
              <a:ext uri="{FF2B5EF4-FFF2-40B4-BE49-F238E27FC236}">
                <a16:creationId xmlns:a16="http://schemas.microsoft.com/office/drawing/2014/main" id="{95C1A11E-55F5-4EAD-6FF1-D79CB9BD95BA}"/>
              </a:ext>
            </a:extLst>
          </p:cNvPr>
          <p:cNvSpPr txBox="1"/>
          <p:nvPr/>
        </p:nvSpPr>
        <p:spPr>
          <a:xfrm>
            <a:off x="1152525" y="1981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a:solidFill>
                  <a:srgbClr val="475569"/>
                </a:solidFill>
                <a:latin typeface="Corbel" panose="020B0503020204020204" pitchFamily="34" charset="0"/>
                <a:ea typeface="Inter"/>
                <a:cs typeface="Inter"/>
                <a:sym typeface="Inter"/>
              </a:rPr>
              <a:t>TCP Congestion Window:</a:t>
            </a:r>
            <a:r>
              <a:rPr lang="en-US" sz="1500" b="0" i="0" u="none" strike="noStrike" cap="none">
                <a:solidFill>
                  <a:srgbClr val="475569"/>
                </a:solidFill>
                <a:latin typeface="Corbel" panose="020B0503020204020204" pitchFamily="34" charset="0"/>
                <a:ea typeface="Inter"/>
                <a:cs typeface="Inter"/>
                <a:sym typeface="Inter"/>
              </a:rPr>
              <a:t> Crucial mechanism to govern data flow end-to-end.</a:t>
            </a:r>
            <a:endParaRPr>
              <a:latin typeface="Corbel" panose="020B0503020204020204" pitchFamily="34" charset="0"/>
            </a:endParaRPr>
          </a:p>
        </p:txBody>
      </p:sp>
      <p:sp>
        <p:nvSpPr>
          <p:cNvPr id="12" name="Google Shape;103;p14">
            <a:extLst>
              <a:ext uri="{FF2B5EF4-FFF2-40B4-BE49-F238E27FC236}">
                <a16:creationId xmlns:a16="http://schemas.microsoft.com/office/drawing/2014/main" id="{4C61087A-73CD-F7E0-FD80-64507EB54903}"/>
              </a:ext>
            </a:extLst>
          </p:cNvPr>
          <p:cNvSpPr txBox="1"/>
          <p:nvPr/>
        </p:nvSpPr>
        <p:spPr>
          <a:xfrm>
            <a:off x="1152525" y="2743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Heuristic Limitations:</a:t>
            </a:r>
            <a:r>
              <a:rPr lang="en-US" sz="1500" b="0" i="0" u="none" strike="noStrike" cap="none" dirty="0">
                <a:solidFill>
                  <a:srgbClr val="475569"/>
                </a:solidFill>
                <a:latin typeface="Corbel" panose="020B0503020204020204" pitchFamily="34" charset="0"/>
                <a:ea typeface="Inter"/>
                <a:cs typeface="Inter"/>
                <a:sym typeface="Inter"/>
              </a:rPr>
              <a:t> Legacy protocols like Reno and CUBIC use "loss-based" rules.</a:t>
            </a:r>
            <a:endParaRPr dirty="0">
              <a:latin typeface="Corbel" panose="020B0503020204020204" pitchFamily="34" charset="0"/>
            </a:endParaRPr>
          </a:p>
        </p:txBody>
      </p:sp>
      <p:sp>
        <p:nvSpPr>
          <p:cNvPr id="13" name="Google Shape;104;p14">
            <a:extLst>
              <a:ext uri="{FF2B5EF4-FFF2-40B4-BE49-F238E27FC236}">
                <a16:creationId xmlns:a16="http://schemas.microsoft.com/office/drawing/2014/main" id="{140A9B84-BA28-C9D4-24A5-DF9648BFB6CE}"/>
              </a:ext>
            </a:extLst>
          </p:cNvPr>
          <p:cNvSpPr txBox="1"/>
          <p:nvPr/>
        </p:nvSpPr>
        <p:spPr>
          <a:xfrm>
            <a:off x="1152525" y="3505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Wireless Challenges:</a:t>
            </a:r>
            <a:r>
              <a:rPr lang="en-US" sz="1500" b="0" i="0" u="none" strike="noStrike" cap="none" dirty="0">
                <a:solidFill>
                  <a:srgbClr val="475569"/>
                </a:solidFill>
                <a:latin typeface="Corbel" panose="020B0503020204020204" pitchFamily="34" charset="0"/>
                <a:ea typeface="Inter"/>
                <a:cs typeface="Inter"/>
                <a:sym typeface="Inter"/>
              </a:rPr>
              <a:t> Random interference causes "fake" congestion signals, ruining throughput.</a:t>
            </a:r>
            <a:endParaRPr dirty="0">
              <a:latin typeface="Corbel" panose="020B0503020204020204" pitchFamily="34" charset="0"/>
            </a:endParaRPr>
          </a:p>
        </p:txBody>
      </p:sp>
      <p:sp>
        <p:nvSpPr>
          <p:cNvPr id="14" name="Google Shape;105;p14">
            <a:extLst>
              <a:ext uri="{FF2B5EF4-FFF2-40B4-BE49-F238E27FC236}">
                <a16:creationId xmlns:a16="http://schemas.microsoft.com/office/drawing/2014/main" id="{B9A5A4BC-4F72-2BE2-4DD8-AB4F327FF6B5}"/>
              </a:ext>
            </a:extLst>
          </p:cNvPr>
          <p:cNvSpPr txBox="1"/>
          <p:nvPr/>
        </p:nvSpPr>
        <p:spPr>
          <a:xfrm>
            <a:off x="1152525" y="4267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a:solidFill>
                  <a:srgbClr val="475569"/>
                </a:solidFill>
                <a:latin typeface="Corbel" panose="020B0503020204020204" pitchFamily="34" charset="0"/>
                <a:ea typeface="Inter"/>
                <a:cs typeface="Inter"/>
                <a:sym typeface="Inter"/>
              </a:rPr>
              <a:t>Adaptive Demand:</a:t>
            </a:r>
            <a:r>
              <a:rPr lang="en-US" sz="1500" b="0" i="0" u="none" strike="noStrike" cap="none">
                <a:solidFill>
                  <a:srgbClr val="475569"/>
                </a:solidFill>
                <a:latin typeface="Corbel" panose="020B0503020204020204" pitchFamily="34" charset="0"/>
                <a:ea typeface="Inter"/>
                <a:cs typeface="Inter"/>
                <a:sym typeface="Inter"/>
              </a:rPr>
              <a:t> Modern networks require intelligent, learning-based adaptation.</a:t>
            </a:r>
            <a:endParaRPr>
              <a:latin typeface="Corbel" panose="020B0503020204020204" pitchFamily="34" charset="0"/>
            </a:endParaRPr>
          </a:p>
        </p:txBody>
      </p:sp>
      <p:pic>
        <p:nvPicPr>
          <p:cNvPr id="15" name="Google Shape;106;p14">
            <a:extLst>
              <a:ext uri="{FF2B5EF4-FFF2-40B4-BE49-F238E27FC236}">
                <a16:creationId xmlns:a16="http://schemas.microsoft.com/office/drawing/2014/main" id="{8DCDAB9E-7295-D8F5-6E0D-F5A5BC8CC8BB}"/>
              </a:ext>
            </a:extLst>
          </p:cNvPr>
          <p:cNvPicPr preferRelativeResize="0"/>
          <p:nvPr/>
        </p:nvPicPr>
        <p:blipFill rotWithShape="1">
          <a:blip r:embed="rId5">
            <a:alphaModFix/>
          </a:blip>
          <a:srcRect/>
          <a:stretch/>
        </p:blipFill>
        <p:spPr>
          <a:xfrm>
            <a:off x="771525" y="1981200"/>
            <a:ext cx="114300" cy="200025"/>
          </a:xfrm>
          <a:prstGeom prst="rect">
            <a:avLst/>
          </a:prstGeom>
          <a:noFill/>
          <a:ln>
            <a:noFill/>
          </a:ln>
        </p:spPr>
      </p:pic>
      <p:pic>
        <p:nvPicPr>
          <p:cNvPr id="16" name="Google Shape;107;p14">
            <a:extLst>
              <a:ext uri="{FF2B5EF4-FFF2-40B4-BE49-F238E27FC236}">
                <a16:creationId xmlns:a16="http://schemas.microsoft.com/office/drawing/2014/main" id="{5B432440-BCB6-24FB-828E-1F868FB18C7D}"/>
              </a:ext>
            </a:extLst>
          </p:cNvPr>
          <p:cNvPicPr preferRelativeResize="0"/>
          <p:nvPr/>
        </p:nvPicPr>
        <p:blipFill rotWithShape="1">
          <a:blip r:embed="rId5">
            <a:alphaModFix/>
          </a:blip>
          <a:srcRect/>
          <a:stretch/>
        </p:blipFill>
        <p:spPr>
          <a:xfrm>
            <a:off x="771525" y="2743200"/>
            <a:ext cx="114300" cy="200025"/>
          </a:xfrm>
          <a:prstGeom prst="rect">
            <a:avLst/>
          </a:prstGeom>
          <a:noFill/>
          <a:ln>
            <a:noFill/>
          </a:ln>
        </p:spPr>
      </p:pic>
      <p:pic>
        <p:nvPicPr>
          <p:cNvPr id="17" name="Google Shape;108;p14">
            <a:extLst>
              <a:ext uri="{FF2B5EF4-FFF2-40B4-BE49-F238E27FC236}">
                <a16:creationId xmlns:a16="http://schemas.microsoft.com/office/drawing/2014/main" id="{A3FA7D2B-3C4D-2E49-4A2B-25BF8EFB34D9}"/>
              </a:ext>
            </a:extLst>
          </p:cNvPr>
          <p:cNvPicPr preferRelativeResize="0"/>
          <p:nvPr/>
        </p:nvPicPr>
        <p:blipFill rotWithShape="1">
          <a:blip r:embed="rId5">
            <a:alphaModFix/>
          </a:blip>
          <a:srcRect/>
          <a:stretch/>
        </p:blipFill>
        <p:spPr>
          <a:xfrm>
            <a:off x="771525" y="3505200"/>
            <a:ext cx="114300" cy="200025"/>
          </a:xfrm>
          <a:prstGeom prst="rect">
            <a:avLst/>
          </a:prstGeom>
          <a:noFill/>
          <a:ln>
            <a:noFill/>
          </a:ln>
        </p:spPr>
      </p:pic>
      <p:pic>
        <p:nvPicPr>
          <p:cNvPr id="18" name="Google Shape;109;p14">
            <a:extLst>
              <a:ext uri="{FF2B5EF4-FFF2-40B4-BE49-F238E27FC236}">
                <a16:creationId xmlns:a16="http://schemas.microsoft.com/office/drawing/2014/main" id="{8AD71429-4282-01D7-E7D2-347C6EEEF223}"/>
              </a:ext>
            </a:extLst>
          </p:cNvPr>
          <p:cNvPicPr preferRelativeResize="0"/>
          <p:nvPr/>
        </p:nvPicPr>
        <p:blipFill rotWithShape="1">
          <a:blip r:embed="rId5">
            <a:alphaModFix/>
          </a:blip>
          <a:srcRect/>
          <a:stretch/>
        </p:blipFill>
        <p:spPr>
          <a:xfrm>
            <a:off x="771525" y="4267200"/>
            <a:ext cx="114300" cy="200025"/>
          </a:xfrm>
          <a:prstGeom prst="rect">
            <a:avLst/>
          </a:prstGeom>
          <a:noFill/>
          <a:ln>
            <a:noFill/>
          </a:ln>
        </p:spPr>
      </p:pic>
    </p:spTree>
    <p:extLst>
      <p:ext uri="{BB962C8B-B14F-4D97-AF65-F5344CB8AC3E}">
        <p14:creationId xmlns:p14="http://schemas.microsoft.com/office/powerpoint/2010/main" val="316297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PROBLEM STATEMENT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81968" y="77275"/>
            <a:ext cx="657803" cy="711726"/>
          </a:xfrm>
          <a:prstGeom prst="rect">
            <a:avLst/>
          </a:prstGeom>
        </p:spPr>
      </p:pic>
      <p:sp>
        <p:nvSpPr>
          <p:cNvPr id="4" name="Footer Placeholder 3"/>
          <p:cNvSpPr>
            <a:spLocks noGrp="1"/>
          </p:cNvSpPr>
          <p:nvPr>
            <p:ph type="ftr" sz="quarter" idx="11"/>
          </p:nvPr>
        </p:nvSpPr>
        <p:spPr/>
        <p:txBody>
          <a:bodyPr/>
          <a:lstStyle/>
          <a:p>
            <a:r>
              <a:rPr lang="en-US" dirty="0">
                <a:latin typeface="Corbel" panose="020B0503020204020204" pitchFamily="34" charset="0"/>
              </a:rPr>
              <a:t>Department of Software Engineering -  Seminar  ©2026</a:t>
            </a:r>
            <a:endParaRPr lang="en-GB" dirty="0">
              <a:latin typeface="Corbel" panose="020B0503020204020204" pitchFamily="34" charset="0"/>
            </a:endParaRPr>
          </a:p>
        </p:txBody>
      </p:sp>
      <p:sp>
        <p:nvSpPr>
          <p:cNvPr id="5" name="Slide Number Placeholder 4">
            <a:extLst>
              <a:ext uri="{FF2B5EF4-FFF2-40B4-BE49-F238E27FC236}">
                <a16:creationId xmlns:a16="http://schemas.microsoft.com/office/drawing/2014/main" id="{286CECEC-CB3B-4765-9B37-346AE47686A2}"/>
              </a:ext>
            </a:extLst>
          </p:cNvPr>
          <p:cNvSpPr>
            <a:spLocks noGrp="1"/>
          </p:cNvSpPr>
          <p:nvPr>
            <p:ph type="sldNum" sz="quarter" idx="12"/>
          </p:nvPr>
        </p:nvSpPr>
        <p:spPr/>
        <p:txBody>
          <a:bodyPr/>
          <a:lstStyle/>
          <a:p>
            <a:fld id="{60CB7500-84E7-42C8-9A57-AC33187A24A8}" type="slidenum">
              <a:rPr lang="en-GB" smtClean="0">
                <a:latin typeface="Corbel" panose="020B0503020204020204" pitchFamily="34" charset="0"/>
              </a:rPr>
              <a:t>3</a:t>
            </a:fld>
            <a:endParaRPr lang="en-GB">
              <a:latin typeface="Corbel" panose="020B0503020204020204" pitchFamily="34" charset="0"/>
            </a:endParaRPr>
          </a:p>
        </p:txBody>
      </p:sp>
      <p:pic>
        <p:nvPicPr>
          <p:cNvPr id="7" name="Picture 6" descr="A logo with green letters and a chip&#10;&#10;Description automatically generated">
            <a:extLst>
              <a:ext uri="{FF2B5EF4-FFF2-40B4-BE49-F238E27FC236}">
                <a16:creationId xmlns:a16="http://schemas.microsoft.com/office/drawing/2014/main" id="{3FE0C3BD-484F-C505-169C-C95D682AE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77273"/>
            <a:ext cx="1028700" cy="511767"/>
          </a:xfrm>
          <a:prstGeom prst="rect">
            <a:avLst/>
          </a:prstGeom>
        </p:spPr>
      </p:pic>
      <p:pic>
        <p:nvPicPr>
          <p:cNvPr id="6" name="Google Shape;114;p15">
            <a:extLst>
              <a:ext uri="{FF2B5EF4-FFF2-40B4-BE49-F238E27FC236}">
                <a16:creationId xmlns:a16="http://schemas.microsoft.com/office/drawing/2014/main" id="{1902E41C-7C64-6AD2-DCAF-D2D882EFB6AD}"/>
              </a:ext>
            </a:extLst>
          </p:cNvPr>
          <p:cNvPicPr preferRelativeResize="0"/>
          <p:nvPr/>
        </p:nvPicPr>
        <p:blipFill rotWithShape="1">
          <a:blip r:embed="rId4">
            <a:alphaModFix/>
          </a:blip>
          <a:srcRect/>
          <a:stretch/>
        </p:blipFill>
        <p:spPr>
          <a:xfrm>
            <a:off x="771525" y="1619250"/>
            <a:ext cx="5086350" cy="3619500"/>
          </a:xfrm>
          <a:prstGeom prst="rect">
            <a:avLst/>
          </a:prstGeom>
          <a:noFill/>
          <a:ln>
            <a:noFill/>
          </a:ln>
        </p:spPr>
      </p:pic>
      <p:sp>
        <p:nvSpPr>
          <p:cNvPr id="9" name="Google Shape;120;p15">
            <a:extLst>
              <a:ext uri="{FF2B5EF4-FFF2-40B4-BE49-F238E27FC236}">
                <a16:creationId xmlns:a16="http://schemas.microsoft.com/office/drawing/2014/main" id="{1E251EEA-7BC1-7D77-EA30-DD69017D5D7E}"/>
              </a:ext>
            </a:extLst>
          </p:cNvPr>
          <p:cNvSpPr txBox="1"/>
          <p:nvPr/>
        </p:nvSpPr>
        <p:spPr>
          <a:xfrm>
            <a:off x="6715125" y="2362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Static Heuristics:</a:t>
            </a:r>
            <a:r>
              <a:rPr lang="en-US" sz="1500" b="0" i="0" u="none" strike="noStrike" cap="none" dirty="0">
                <a:solidFill>
                  <a:srgbClr val="475569"/>
                </a:solidFill>
                <a:latin typeface="Corbel" panose="020B0503020204020204" pitchFamily="34" charset="0"/>
                <a:ea typeface="Inter"/>
                <a:cs typeface="Inter"/>
                <a:sym typeface="Inter"/>
              </a:rPr>
              <a:t> Inability to differentiate between congestion and channel noise.</a:t>
            </a:r>
            <a:endParaRPr dirty="0">
              <a:latin typeface="Corbel" panose="020B0503020204020204" pitchFamily="34" charset="0"/>
            </a:endParaRPr>
          </a:p>
        </p:txBody>
      </p:sp>
      <p:sp>
        <p:nvSpPr>
          <p:cNvPr id="10" name="Google Shape;121;p15">
            <a:extLst>
              <a:ext uri="{FF2B5EF4-FFF2-40B4-BE49-F238E27FC236}">
                <a16:creationId xmlns:a16="http://schemas.microsoft.com/office/drawing/2014/main" id="{5D6C8CFE-044C-E9A5-E884-5DDEF629428E}"/>
              </a:ext>
            </a:extLst>
          </p:cNvPr>
          <p:cNvSpPr txBox="1"/>
          <p:nvPr/>
        </p:nvSpPr>
        <p:spPr>
          <a:xfrm>
            <a:off x="6715125" y="3124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a:solidFill>
                  <a:srgbClr val="475569"/>
                </a:solidFill>
                <a:latin typeface="Corbel" panose="020B0503020204020204" pitchFamily="34" charset="0"/>
                <a:ea typeface="Inter"/>
                <a:cs typeface="Inter"/>
                <a:sym typeface="Inter"/>
              </a:rPr>
              <a:t>Coexistence Issues:</a:t>
            </a:r>
            <a:r>
              <a:rPr lang="en-US" sz="1500" b="0" i="0" u="none" strike="noStrike" cap="none">
                <a:solidFill>
                  <a:srgbClr val="475569"/>
                </a:solidFill>
                <a:latin typeface="Corbel" panose="020B0503020204020204" pitchFamily="34" charset="0"/>
                <a:ea typeface="Inter"/>
                <a:cs typeface="Inter"/>
                <a:sym typeface="Inter"/>
              </a:rPr>
              <a:t> Model-based protocols (BBR) often "bully" legacy CUBIC flows.</a:t>
            </a:r>
            <a:endParaRPr>
              <a:latin typeface="Corbel" panose="020B0503020204020204" pitchFamily="34" charset="0"/>
            </a:endParaRPr>
          </a:p>
        </p:txBody>
      </p:sp>
      <p:sp>
        <p:nvSpPr>
          <p:cNvPr id="11" name="Google Shape;122;p15">
            <a:extLst>
              <a:ext uri="{FF2B5EF4-FFF2-40B4-BE49-F238E27FC236}">
                <a16:creationId xmlns:a16="http://schemas.microsoft.com/office/drawing/2014/main" id="{2E2BC45C-5D80-D0D4-DF42-598AC9942884}"/>
              </a:ext>
            </a:extLst>
          </p:cNvPr>
          <p:cNvSpPr txBox="1"/>
          <p:nvPr/>
        </p:nvSpPr>
        <p:spPr>
          <a:xfrm>
            <a:off x="6715125" y="3886200"/>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Selfish RL:</a:t>
            </a:r>
            <a:r>
              <a:rPr lang="en-US" sz="1500" b="0" i="0" u="none" strike="noStrike" cap="none" dirty="0">
                <a:solidFill>
                  <a:srgbClr val="475569"/>
                </a:solidFill>
                <a:latin typeface="Corbel" panose="020B0503020204020204" pitchFamily="34" charset="0"/>
                <a:ea typeface="Inter"/>
                <a:cs typeface="Inter"/>
                <a:sym typeface="Inter"/>
              </a:rPr>
              <a:t> Single-agent RL models maximize own speed, starving others and causing instability.</a:t>
            </a:r>
            <a:endParaRPr dirty="0">
              <a:latin typeface="Corbel" panose="020B0503020204020204" pitchFamily="34" charset="0"/>
            </a:endParaRPr>
          </a:p>
        </p:txBody>
      </p:sp>
      <p:pic>
        <p:nvPicPr>
          <p:cNvPr id="12" name="Google Shape;123;p15">
            <a:extLst>
              <a:ext uri="{FF2B5EF4-FFF2-40B4-BE49-F238E27FC236}">
                <a16:creationId xmlns:a16="http://schemas.microsoft.com/office/drawing/2014/main" id="{A8C47995-E71C-0A23-590F-F33D6B5D5FCB}"/>
              </a:ext>
            </a:extLst>
          </p:cNvPr>
          <p:cNvPicPr preferRelativeResize="0"/>
          <p:nvPr/>
        </p:nvPicPr>
        <p:blipFill rotWithShape="1">
          <a:blip r:embed="rId5">
            <a:alphaModFix/>
          </a:blip>
          <a:srcRect/>
          <a:stretch/>
        </p:blipFill>
        <p:spPr>
          <a:xfrm>
            <a:off x="6334125" y="2362200"/>
            <a:ext cx="114300" cy="200025"/>
          </a:xfrm>
          <a:prstGeom prst="rect">
            <a:avLst/>
          </a:prstGeom>
          <a:noFill/>
          <a:ln>
            <a:noFill/>
          </a:ln>
        </p:spPr>
      </p:pic>
      <p:pic>
        <p:nvPicPr>
          <p:cNvPr id="13" name="Google Shape;124;p15">
            <a:extLst>
              <a:ext uri="{FF2B5EF4-FFF2-40B4-BE49-F238E27FC236}">
                <a16:creationId xmlns:a16="http://schemas.microsoft.com/office/drawing/2014/main" id="{D8891759-A118-8544-1C81-242FB35D5E18}"/>
              </a:ext>
            </a:extLst>
          </p:cNvPr>
          <p:cNvPicPr preferRelativeResize="0"/>
          <p:nvPr/>
        </p:nvPicPr>
        <p:blipFill rotWithShape="1">
          <a:blip r:embed="rId5">
            <a:alphaModFix/>
          </a:blip>
          <a:srcRect/>
          <a:stretch/>
        </p:blipFill>
        <p:spPr>
          <a:xfrm>
            <a:off x="6334125" y="3124200"/>
            <a:ext cx="114300" cy="200025"/>
          </a:xfrm>
          <a:prstGeom prst="rect">
            <a:avLst/>
          </a:prstGeom>
          <a:noFill/>
          <a:ln>
            <a:noFill/>
          </a:ln>
        </p:spPr>
      </p:pic>
      <p:pic>
        <p:nvPicPr>
          <p:cNvPr id="14" name="Google Shape;125;p15">
            <a:extLst>
              <a:ext uri="{FF2B5EF4-FFF2-40B4-BE49-F238E27FC236}">
                <a16:creationId xmlns:a16="http://schemas.microsoft.com/office/drawing/2014/main" id="{6B946735-FB2D-C9A0-7BE4-D255DCC2CEDA}"/>
              </a:ext>
            </a:extLst>
          </p:cNvPr>
          <p:cNvPicPr preferRelativeResize="0"/>
          <p:nvPr/>
        </p:nvPicPr>
        <p:blipFill rotWithShape="1">
          <a:blip r:embed="rId5">
            <a:alphaModFix/>
          </a:blip>
          <a:srcRect/>
          <a:stretch/>
        </p:blipFill>
        <p:spPr>
          <a:xfrm>
            <a:off x="6334125" y="3886200"/>
            <a:ext cx="114300" cy="200025"/>
          </a:xfrm>
          <a:prstGeom prst="rect">
            <a:avLst/>
          </a:prstGeom>
          <a:noFill/>
          <a:ln>
            <a:noFill/>
          </a:ln>
        </p:spPr>
      </p:pic>
      <p:pic>
        <p:nvPicPr>
          <p:cNvPr id="1026" name="Picture 2">
            <a:extLst>
              <a:ext uri="{FF2B5EF4-FFF2-40B4-BE49-F238E27FC236}">
                <a16:creationId xmlns:a16="http://schemas.microsoft.com/office/drawing/2014/main" id="{BBD37408-6893-E6FC-8495-2D7865192C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6638" y="1529553"/>
            <a:ext cx="5283186" cy="4561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38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AIM AND OBJECTIVES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3355" y="67651"/>
            <a:ext cx="800964" cy="866623"/>
          </a:xfrm>
          <a:prstGeom prst="rect">
            <a:avLst/>
          </a:prstGeom>
        </p:spPr>
      </p:pic>
      <p:sp>
        <p:nvSpPr>
          <p:cNvPr id="4" name="Footer Placeholder 3"/>
          <p:cNvSpPr>
            <a:spLocks noGrp="1"/>
          </p:cNvSpPr>
          <p:nvPr>
            <p:ph type="ftr" sz="quarter" idx="11"/>
          </p:nvPr>
        </p:nvSpPr>
        <p:spPr/>
        <p:txBody>
          <a:bodyPr/>
          <a:lstStyle/>
          <a:p>
            <a:r>
              <a:rPr lang="en-US" dirty="0">
                <a:latin typeface="Corbel" panose="020B0503020204020204" pitchFamily="34" charset="0"/>
              </a:rPr>
              <a:t>Department of Software Engineering -  Seminar  ©2026</a:t>
            </a:r>
            <a:endParaRPr lang="en-GB" dirty="0">
              <a:latin typeface="Corbel" panose="020B0503020204020204" pitchFamily="34" charset="0"/>
            </a:endParaRPr>
          </a:p>
        </p:txBody>
      </p:sp>
      <p:sp>
        <p:nvSpPr>
          <p:cNvPr id="5" name="Slide Number Placeholder 4">
            <a:extLst>
              <a:ext uri="{FF2B5EF4-FFF2-40B4-BE49-F238E27FC236}">
                <a16:creationId xmlns:a16="http://schemas.microsoft.com/office/drawing/2014/main" id="{6D95DEBF-0917-4EDA-A968-A1187456EEEC}"/>
              </a:ext>
            </a:extLst>
          </p:cNvPr>
          <p:cNvSpPr>
            <a:spLocks noGrp="1"/>
          </p:cNvSpPr>
          <p:nvPr>
            <p:ph type="sldNum" sz="quarter" idx="12"/>
          </p:nvPr>
        </p:nvSpPr>
        <p:spPr/>
        <p:txBody>
          <a:bodyPr/>
          <a:lstStyle/>
          <a:p>
            <a:fld id="{60CB7500-84E7-42C8-9A57-AC33187A24A8}" type="slidenum">
              <a:rPr lang="en-GB" smtClean="0">
                <a:latin typeface="Corbel" panose="020B0503020204020204" pitchFamily="34" charset="0"/>
              </a:rPr>
              <a:t>4</a:t>
            </a:fld>
            <a:endParaRPr lang="en-GB">
              <a:latin typeface="Corbel" panose="020B0503020204020204" pitchFamily="34" charset="0"/>
            </a:endParaRPr>
          </a:p>
        </p:txBody>
      </p:sp>
      <p:pic>
        <p:nvPicPr>
          <p:cNvPr id="7" name="Picture 6" descr="A logo with green letters and a chip&#10;&#10;Description automatically generated">
            <a:extLst>
              <a:ext uri="{FF2B5EF4-FFF2-40B4-BE49-F238E27FC236}">
                <a16:creationId xmlns:a16="http://schemas.microsoft.com/office/drawing/2014/main" id="{7FCA6E0F-0184-C480-34F3-1B4150D38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791"/>
            <a:ext cx="1028700" cy="476250"/>
          </a:xfrm>
          <a:prstGeom prst="rect">
            <a:avLst/>
          </a:prstGeom>
        </p:spPr>
      </p:pic>
      <p:pic>
        <p:nvPicPr>
          <p:cNvPr id="6" name="Google Shape;130;p16">
            <a:extLst>
              <a:ext uri="{FF2B5EF4-FFF2-40B4-BE49-F238E27FC236}">
                <a16:creationId xmlns:a16="http://schemas.microsoft.com/office/drawing/2014/main" id="{5005040B-17C0-C0AF-5682-C6E3399A85E3}"/>
              </a:ext>
            </a:extLst>
          </p:cNvPr>
          <p:cNvPicPr preferRelativeResize="0"/>
          <p:nvPr/>
        </p:nvPicPr>
        <p:blipFill rotWithShape="1">
          <a:blip r:embed="rId4">
            <a:alphaModFix/>
          </a:blip>
          <a:srcRect/>
          <a:stretch/>
        </p:blipFill>
        <p:spPr>
          <a:xfrm>
            <a:off x="667703" y="1509713"/>
            <a:ext cx="10648950" cy="1800225"/>
          </a:xfrm>
          <a:prstGeom prst="rect">
            <a:avLst/>
          </a:prstGeom>
          <a:noFill/>
          <a:ln>
            <a:noFill/>
          </a:ln>
        </p:spPr>
      </p:pic>
      <p:pic>
        <p:nvPicPr>
          <p:cNvPr id="8" name="Google Shape;131;p16">
            <a:extLst>
              <a:ext uri="{FF2B5EF4-FFF2-40B4-BE49-F238E27FC236}">
                <a16:creationId xmlns:a16="http://schemas.microsoft.com/office/drawing/2014/main" id="{997A0C1F-EB54-B323-D2FD-702A94EE0E05}"/>
              </a:ext>
            </a:extLst>
          </p:cNvPr>
          <p:cNvPicPr preferRelativeResize="0"/>
          <p:nvPr/>
        </p:nvPicPr>
        <p:blipFill rotWithShape="1">
          <a:blip r:embed="rId5">
            <a:alphaModFix/>
          </a:blip>
          <a:srcRect/>
          <a:stretch/>
        </p:blipFill>
        <p:spPr>
          <a:xfrm>
            <a:off x="667703" y="3548063"/>
            <a:ext cx="5205412" cy="1800225"/>
          </a:xfrm>
          <a:prstGeom prst="rect">
            <a:avLst/>
          </a:prstGeom>
          <a:noFill/>
          <a:ln>
            <a:noFill/>
          </a:ln>
        </p:spPr>
      </p:pic>
      <p:pic>
        <p:nvPicPr>
          <p:cNvPr id="9" name="Google Shape;132;p16">
            <a:extLst>
              <a:ext uri="{FF2B5EF4-FFF2-40B4-BE49-F238E27FC236}">
                <a16:creationId xmlns:a16="http://schemas.microsoft.com/office/drawing/2014/main" id="{D95717DC-A268-B6DA-1CFB-1C5152A4B17E}"/>
              </a:ext>
            </a:extLst>
          </p:cNvPr>
          <p:cNvPicPr preferRelativeResize="0"/>
          <p:nvPr/>
        </p:nvPicPr>
        <p:blipFill rotWithShape="1">
          <a:blip r:embed="rId6">
            <a:alphaModFix/>
          </a:blip>
          <a:srcRect/>
          <a:stretch/>
        </p:blipFill>
        <p:spPr>
          <a:xfrm>
            <a:off x="6111240" y="3548063"/>
            <a:ext cx="5205412" cy="1800225"/>
          </a:xfrm>
          <a:prstGeom prst="rect">
            <a:avLst/>
          </a:prstGeom>
          <a:noFill/>
          <a:ln>
            <a:noFill/>
          </a:ln>
        </p:spPr>
      </p:pic>
      <p:sp>
        <p:nvSpPr>
          <p:cNvPr id="10" name="Google Shape;137;p16">
            <a:extLst>
              <a:ext uri="{FF2B5EF4-FFF2-40B4-BE49-F238E27FC236}">
                <a16:creationId xmlns:a16="http://schemas.microsoft.com/office/drawing/2014/main" id="{4D8BE827-AF76-00A8-60CA-C91486F3AA2C}"/>
              </a:ext>
            </a:extLst>
          </p:cNvPr>
          <p:cNvSpPr txBox="1"/>
          <p:nvPr/>
        </p:nvSpPr>
        <p:spPr>
          <a:xfrm>
            <a:off x="962978" y="1804988"/>
            <a:ext cx="10561320" cy="25717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1650" b="1" i="0" u="none" strike="noStrike" cap="none">
                <a:solidFill>
                  <a:srgbClr val="00F2FF"/>
                </a:solidFill>
                <a:latin typeface="Corbel" panose="020B0503020204020204" pitchFamily="34" charset="0"/>
                <a:ea typeface="Orbitron"/>
                <a:cs typeface="Orbitron"/>
                <a:sym typeface="Orbitron"/>
              </a:rPr>
              <a:t>MAIN AIM</a:t>
            </a:r>
            <a:endParaRPr>
              <a:latin typeface="Corbel" panose="020B0503020204020204" pitchFamily="34" charset="0"/>
            </a:endParaRPr>
          </a:p>
        </p:txBody>
      </p:sp>
      <p:sp>
        <p:nvSpPr>
          <p:cNvPr id="11" name="Google Shape;138;p16">
            <a:extLst>
              <a:ext uri="{FF2B5EF4-FFF2-40B4-BE49-F238E27FC236}">
                <a16:creationId xmlns:a16="http://schemas.microsoft.com/office/drawing/2014/main" id="{5C469398-B411-965B-3226-108FAF49DAD5}"/>
              </a:ext>
            </a:extLst>
          </p:cNvPr>
          <p:cNvSpPr txBox="1"/>
          <p:nvPr/>
        </p:nvSpPr>
        <p:spPr>
          <a:xfrm>
            <a:off x="962978" y="2252663"/>
            <a:ext cx="1005840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0" i="0" u="none" strike="noStrike" cap="none">
                <a:solidFill>
                  <a:srgbClr val="475569"/>
                </a:solidFill>
                <a:latin typeface="Corbel" panose="020B0503020204020204" pitchFamily="34" charset="0"/>
                <a:ea typeface="Inter"/>
                <a:cs typeface="Inter"/>
                <a:sym typeface="Inter"/>
              </a:rPr>
              <a:t>To design and evaluate a multi-agent reinforcement learning (MARL) framework for TCP congestion control that improves network performance while remaining computationally feasible.</a:t>
            </a:r>
            <a:endParaRPr>
              <a:latin typeface="Corbel" panose="020B0503020204020204" pitchFamily="34" charset="0"/>
            </a:endParaRPr>
          </a:p>
        </p:txBody>
      </p:sp>
      <p:sp>
        <p:nvSpPr>
          <p:cNvPr id="12" name="Google Shape;139;p16">
            <a:extLst>
              <a:ext uri="{FF2B5EF4-FFF2-40B4-BE49-F238E27FC236}">
                <a16:creationId xmlns:a16="http://schemas.microsoft.com/office/drawing/2014/main" id="{DF6B070D-A9BF-1430-6F0C-35E30F97C185}"/>
              </a:ext>
            </a:extLst>
          </p:cNvPr>
          <p:cNvSpPr txBox="1"/>
          <p:nvPr/>
        </p:nvSpPr>
        <p:spPr>
          <a:xfrm>
            <a:off x="962978" y="3843338"/>
            <a:ext cx="4845605" cy="25717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1650" b="1" i="0" u="none" strike="noStrike" cap="none">
                <a:solidFill>
                  <a:srgbClr val="00F2FF"/>
                </a:solidFill>
                <a:latin typeface="Corbel" panose="020B0503020204020204" pitchFamily="34" charset="0"/>
                <a:ea typeface="Orbitron"/>
                <a:cs typeface="Orbitron"/>
                <a:sym typeface="Orbitron"/>
              </a:rPr>
              <a:t>OBJECTIVE 1</a:t>
            </a:r>
            <a:endParaRPr>
              <a:latin typeface="Corbel" panose="020B0503020204020204" pitchFamily="34" charset="0"/>
            </a:endParaRPr>
          </a:p>
        </p:txBody>
      </p:sp>
      <p:sp>
        <p:nvSpPr>
          <p:cNvPr id="13" name="Google Shape;140;p16">
            <a:extLst>
              <a:ext uri="{FF2B5EF4-FFF2-40B4-BE49-F238E27FC236}">
                <a16:creationId xmlns:a16="http://schemas.microsoft.com/office/drawing/2014/main" id="{48F4D231-49EF-D79A-BC12-4799D12EFECB}"/>
              </a:ext>
            </a:extLst>
          </p:cNvPr>
          <p:cNvSpPr txBox="1"/>
          <p:nvPr/>
        </p:nvSpPr>
        <p:spPr>
          <a:xfrm>
            <a:off x="962978" y="4291013"/>
            <a:ext cx="4614862"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0" i="0" u="none" strike="noStrike" cap="none" dirty="0">
                <a:solidFill>
                  <a:srgbClr val="475569"/>
                </a:solidFill>
                <a:latin typeface="Corbel" panose="020B0503020204020204" pitchFamily="34" charset="0"/>
                <a:ea typeface="Inter"/>
                <a:cs typeface="Inter"/>
                <a:sym typeface="Inter"/>
              </a:rPr>
              <a:t>Formulate TCP congestion control as a multi-agent reinforcement learning problem.</a:t>
            </a:r>
            <a:endParaRPr dirty="0">
              <a:latin typeface="Corbel" panose="020B0503020204020204" pitchFamily="34" charset="0"/>
            </a:endParaRPr>
          </a:p>
        </p:txBody>
      </p:sp>
      <p:sp>
        <p:nvSpPr>
          <p:cNvPr id="14" name="Google Shape;141;p16">
            <a:extLst>
              <a:ext uri="{FF2B5EF4-FFF2-40B4-BE49-F238E27FC236}">
                <a16:creationId xmlns:a16="http://schemas.microsoft.com/office/drawing/2014/main" id="{01D8F0C1-0984-B46E-6C59-CF587BF35A77}"/>
              </a:ext>
            </a:extLst>
          </p:cNvPr>
          <p:cNvSpPr txBox="1"/>
          <p:nvPr/>
        </p:nvSpPr>
        <p:spPr>
          <a:xfrm>
            <a:off x="6406515" y="3843338"/>
            <a:ext cx="4845605" cy="25717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1650" b="1" i="0" u="none" strike="noStrike" cap="none">
                <a:solidFill>
                  <a:srgbClr val="00F2FF"/>
                </a:solidFill>
                <a:latin typeface="Corbel" panose="020B0503020204020204" pitchFamily="34" charset="0"/>
                <a:ea typeface="Orbitron"/>
                <a:cs typeface="Orbitron"/>
                <a:sym typeface="Orbitron"/>
              </a:rPr>
              <a:t>OBJECTIVE 2</a:t>
            </a:r>
            <a:endParaRPr>
              <a:latin typeface="Corbel" panose="020B0503020204020204" pitchFamily="34" charset="0"/>
            </a:endParaRPr>
          </a:p>
        </p:txBody>
      </p:sp>
      <p:sp>
        <p:nvSpPr>
          <p:cNvPr id="15" name="Google Shape;142;p16">
            <a:extLst>
              <a:ext uri="{FF2B5EF4-FFF2-40B4-BE49-F238E27FC236}">
                <a16:creationId xmlns:a16="http://schemas.microsoft.com/office/drawing/2014/main" id="{B4809C5F-97DE-FC0D-B1A5-C7B3A76B4DFD}"/>
              </a:ext>
            </a:extLst>
          </p:cNvPr>
          <p:cNvSpPr txBox="1"/>
          <p:nvPr/>
        </p:nvSpPr>
        <p:spPr>
          <a:xfrm>
            <a:off x="6406515" y="4291013"/>
            <a:ext cx="4614862"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0" i="0" u="none" strike="noStrike" cap="none">
                <a:solidFill>
                  <a:srgbClr val="475569"/>
                </a:solidFill>
                <a:latin typeface="Corbel" panose="020B0503020204020204" pitchFamily="34" charset="0"/>
                <a:ea typeface="Inter"/>
                <a:cs typeface="Inter"/>
                <a:sym typeface="Inter"/>
              </a:rPr>
              <a:t>Design a discrete-event simulation environment for offline training of RL agents.</a:t>
            </a:r>
            <a:endParaRPr>
              <a:latin typeface="Corbel" panose="020B0503020204020204" pitchFamily="34" charset="0"/>
            </a:endParaRPr>
          </a:p>
        </p:txBody>
      </p:sp>
    </p:spTree>
    <p:extLst>
      <p:ext uri="{BB962C8B-B14F-4D97-AF65-F5344CB8AC3E}">
        <p14:creationId xmlns:p14="http://schemas.microsoft.com/office/powerpoint/2010/main" val="437069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METHODOLOGY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p:cNvSpPr>
            <a:spLocks noGrp="1"/>
          </p:cNvSpPr>
          <p:nvPr>
            <p:ph type="ftr" sz="quarter" idx="11"/>
          </p:nvPr>
        </p:nvSpPr>
        <p:spPr/>
        <p:txBody>
          <a:bodyPr/>
          <a:lstStyle/>
          <a:p>
            <a:r>
              <a:rPr lang="en-US" dirty="0">
                <a:latin typeface="Corbel" panose="020B0503020204020204" pitchFamily="34" charset="0"/>
              </a:rPr>
              <a:t>Department of Software Engineering -  Seminar  ©202</a:t>
            </a:r>
            <a:endParaRPr lang="en-GB" dirty="0">
              <a:latin typeface="Corbel" panose="020B0503020204020204" pitchFamily="34" charset="0"/>
            </a:endParaRPr>
          </a:p>
        </p:txBody>
      </p:sp>
      <p:sp>
        <p:nvSpPr>
          <p:cNvPr id="5" name="Slide Number Placeholder 4">
            <a:extLst>
              <a:ext uri="{FF2B5EF4-FFF2-40B4-BE49-F238E27FC236}">
                <a16:creationId xmlns:a16="http://schemas.microsoft.com/office/drawing/2014/main" id="{4F013CF2-E240-49B7-AE34-B318D306B1CA}"/>
              </a:ext>
            </a:extLst>
          </p:cNvPr>
          <p:cNvSpPr>
            <a:spLocks noGrp="1"/>
          </p:cNvSpPr>
          <p:nvPr>
            <p:ph type="sldNum" sz="quarter" idx="12"/>
          </p:nvPr>
        </p:nvSpPr>
        <p:spPr/>
        <p:txBody>
          <a:bodyPr/>
          <a:lstStyle/>
          <a:p>
            <a:fld id="{60CB7500-84E7-42C8-9A57-AC33187A24A8}" type="slidenum">
              <a:rPr lang="en-GB" smtClean="0">
                <a:latin typeface="Corbel" panose="020B0503020204020204" pitchFamily="34" charset="0"/>
              </a:rPr>
              <a:t>5</a:t>
            </a:fld>
            <a:endParaRPr lang="en-GB">
              <a:latin typeface="Corbel" panose="020B0503020204020204" pitchFamily="34" charset="0"/>
            </a:endParaRPr>
          </a:p>
        </p:txBody>
      </p:sp>
      <p:pic>
        <p:nvPicPr>
          <p:cNvPr id="7" name="Picture 6" descr="A logo with green letters and a chip&#10;&#10;Description automatically generated">
            <a:extLst>
              <a:ext uri="{FF2B5EF4-FFF2-40B4-BE49-F238E27FC236}">
                <a16:creationId xmlns:a16="http://schemas.microsoft.com/office/drawing/2014/main" id="{0E94A5F8-459F-E0F5-B38B-C12C5C86BC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pic>
        <p:nvPicPr>
          <p:cNvPr id="6" name="Google Shape;147;p17">
            <a:extLst>
              <a:ext uri="{FF2B5EF4-FFF2-40B4-BE49-F238E27FC236}">
                <a16:creationId xmlns:a16="http://schemas.microsoft.com/office/drawing/2014/main" id="{13555F29-200D-C32C-142A-8AA18A6B4944}"/>
              </a:ext>
            </a:extLst>
          </p:cNvPr>
          <p:cNvPicPr preferRelativeResize="0"/>
          <p:nvPr/>
        </p:nvPicPr>
        <p:blipFill rotWithShape="1">
          <a:blip r:embed="rId4">
            <a:alphaModFix/>
          </a:blip>
          <a:srcRect/>
          <a:stretch/>
        </p:blipFill>
        <p:spPr>
          <a:xfrm>
            <a:off x="6334125" y="1943100"/>
            <a:ext cx="5086350" cy="971550"/>
          </a:xfrm>
          <a:prstGeom prst="rect">
            <a:avLst/>
          </a:prstGeom>
          <a:noFill/>
          <a:ln>
            <a:noFill/>
          </a:ln>
        </p:spPr>
      </p:pic>
      <p:pic>
        <p:nvPicPr>
          <p:cNvPr id="8" name="Google Shape;148;p17">
            <a:extLst>
              <a:ext uri="{FF2B5EF4-FFF2-40B4-BE49-F238E27FC236}">
                <a16:creationId xmlns:a16="http://schemas.microsoft.com/office/drawing/2014/main" id="{10CAB042-EA66-CC60-3303-833FB80A51F3}"/>
              </a:ext>
            </a:extLst>
          </p:cNvPr>
          <p:cNvPicPr preferRelativeResize="0"/>
          <p:nvPr/>
        </p:nvPicPr>
        <p:blipFill rotWithShape="1">
          <a:blip r:embed="rId5">
            <a:alphaModFix/>
          </a:blip>
          <a:srcRect/>
          <a:stretch/>
        </p:blipFill>
        <p:spPr>
          <a:xfrm>
            <a:off x="6334125" y="3200400"/>
            <a:ext cx="5086350" cy="1714500"/>
          </a:xfrm>
          <a:prstGeom prst="rect">
            <a:avLst/>
          </a:prstGeom>
          <a:noFill/>
          <a:ln>
            <a:noFill/>
          </a:ln>
        </p:spPr>
      </p:pic>
      <p:sp>
        <p:nvSpPr>
          <p:cNvPr id="9" name="Google Shape;153;p17">
            <a:extLst>
              <a:ext uri="{FF2B5EF4-FFF2-40B4-BE49-F238E27FC236}">
                <a16:creationId xmlns:a16="http://schemas.microsoft.com/office/drawing/2014/main" id="{231D0AD2-E286-052F-7A51-7DD800373525}"/>
              </a:ext>
            </a:extLst>
          </p:cNvPr>
          <p:cNvSpPr txBox="1"/>
          <p:nvPr/>
        </p:nvSpPr>
        <p:spPr>
          <a:xfrm>
            <a:off x="1152525" y="2219325"/>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Offline Training:</a:t>
            </a:r>
            <a:r>
              <a:rPr lang="en-US" sz="1500" b="0" i="0" u="none" strike="noStrike" cap="none" dirty="0">
                <a:solidFill>
                  <a:srgbClr val="475569"/>
                </a:solidFill>
                <a:latin typeface="Corbel" panose="020B0503020204020204" pitchFamily="34" charset="0"/>
                <a:ea typeface="Inter"/>
                <a:cs typeface="Inter"/>
                <a:sym typeface="Inter"/>
              </a:rPr>
              <a:t> Agents trained in NS-3 to bypass live kernel computational limits.</a:t>
            </a:r>
            <a:endParaRPr dirty="0">
              <a:latin typeface="Corbel" panose="020B0503020204020204" pitchFamily="34" charset="0"/>
            </a:endParaRPr>
          </a:p>
        </p:txBody>
      </p:sp>
      <p:sp>
        <p:nvSpPr>
          <p:cNvPr id="10" name="Google Shape;154;p17">
            <a:extLst>
              <a:ext uri="{FF2B5EF4-FFF2-40B4-BE49-F238E27FC236}">
                <a16:creationId xmlns:a16="http://schemas.microsoft.com/office/drawing/2014/main" id="{5DAE0C66-15C0-9C9F-2A98-C57551E4A93C}"/>
              </a:ext>
            </a:extLst>
          </p:cNvPr>
          <p:cNvSpPr txBox="1"/>
          <p:nvPr/>
        </p:nvSpPr>
        <p:spPr>
          <a:xfrm>
            <a:off x="1152525" y="2981325"/>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MARL Design:</a:t>
            </a:r>
            <a:r>
              <a:rPr lang="en-US" sz="1500" b="0" i="0" u="none" strike="noStrike" cap="none" dirty="0">
                <a:solidFill>
                  <a:srgbClr val="475569"/>
                </a:solidFill>
                <a:latin typeface="Corbel" panose="020B0503020204020204" pitchFamily="34" charset="0"/>
                <a:ea typeface="Inter"/>
                <a:cs typeface="Inter"/>
                <a:sym typeface="Inter"/>
              </a:rPr>
              <a:t> Independent agents share a globally aware cooperative policy.</a:t>
            </a:r>
            <a:endParaRPr dirty="0">
              <a:latin typeface="Corbel" panose="020B0503020204020204" pitchFamily="34" charset="0"/>
            </a:endParaRPr>
          </a:p>
        </p:txBody>
      </p:sp>
      <p:sp>
        <p:nvSpPr>
          <p:cNvPr id="11" name="Google Shape;155;p17">
            <a:extLst>
              <a:ext uri="{FF2B5EF4-FFF2-40B4-BE49-F238E27FC236}">
                <a16:creationId xmlns:a16="http://schemas.microsoft.com/office/drawing/2014/main" id="{4FB05681-02F8-B93D-1FE5-69989494F24E}"/>
              </a:ext>
            </a:extLst>
          </p:cNvPr>
          <p:cNvSpPr txBox="1"/>
          <p:nvPr/>
        </p:nvSpPr>
        <p:spPr>
          <a:xfrm>
            <a:off x="1152525" y="3743325"/>
            <a:ext cx="4705350" cy="69249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Corbel" panose="020B0503020204020204" pitchFamily="34" charset="0"/>
                <a:ea typeface="Inter"/>
                <a:cs typeface="Inter"/>
                <a:sym typeface="Inter"/>
              </a:rPr>
              <a:t>Global Reward Function:</a:t>
            </a:r>
            <a:r>
              <a:rPr lang="en-US" sz="1500" b="0" i="0" u="none" strike="noStrike" cap="none" dirty="0">
                <a:solidFill>
                  <a:srgbClr val="475569"/>
                </a:solidFill>
                <a:latin typeface="Corbel" panose="020B0503020204020204" pitchFamily="34" charset="0"/>
                <a:ea typeface="Inter"/>
                <a:cs typeface="Inter"/>
                <a:sym typeface="Inter"/>
              </a:rPr>
              <a:t> Mathematically penalizes agents for selfish behavior.</a:t>
            </a:r>
            <a:endParaRPr dirty="0">
              <a:latin typeface="Corbel" panose="020B0503020204020204" pitchFamily="34" charset="0"/>
            </a:endParaRPr>
          </a:p>
        </p:txBody>
      </p:sp>
      <p:pic>
        <p:nvPicPr>
          <p:cNvPr id="12" name="Google Shape;156;p17">
            <a:extLst>
              <a:ext uri="{FF2B5EF4-FFF2-40B4-BE49-F238E27FC236}">
                <a16:creationId xmlns:a16="http://schemas.microsoft.com/office/drawing/2014/main" id="{F9C5C333-66DA-C40E-549F-9F574546C301}"/>
              </a:ext>
            </a:extLst>
          </p:cNvPr>
          <p:cNvPicPr preferRelativeResize="0"/>
          <p:nvPr/>
        </p:nvPicPr>
        <p:blipFill rotWithShape="1">
          <a:blip r:embed="rId6">
            <a:alphaModFix/>
          </a:blip>
          <a:srcRect/>
          <a:stretch/>
        </p:blipFill>
        <p:spPr>
          <a:xfrm>
            <a:off x="6724650" y="2371725"/>
            <a:ext cx="1298674" cy="152400"/>
          </a:xfrm>
          <a:prstGeom prst="rect">
            <a:avLst/>
          </a:prstGeom>
          <a:noFill/>
          <a:ln>
            <a:noFill/>
          </a:ln>
        </p:spPr>
      </p:pic>
      <p:pic>
        <p:nvPicPr>
          <p:cNvPr id="13" name="Google Shape;157;p17">
            <a:extLst>
              <a:ext uri="{FF2B5EF4-FFF2-40B4-BE49-F238E27FC236}">
                <a16:creationId xmlns:a16="http://schemas.microsoft.com/office/drawing/2014/main" id="{D3C68F45-6D56-CECC-2380-646BFA6EC935}"/>
              </a:ext>
            </a:extLst>
          </p:cNvPr>
          <p:cNvPicPr preferRelativeResize="0"/>
          <p:nvPr/>
        </p:nvPicPr>
        <p:blipFill rotWithShape="1">
          <a:blip r:embed="rId7">
            <a:alphaModFix/>
          </a:blip>
          <a:srcRect/>
          <a:stretch/>
        </p:blipFill>
        <p:spPr>
          <a:xfrm>
            <a:off x="6267450" y="2980010"/>
            <a:ext cx="5086350" cy="1714500"/>
          </a:xfrm>
          <a:prstGeom prst="rect">
            <a:avLst/>
          </a:prstGeom>
          <a:noFill/>
          <a:ln>
            <a:noFill/>
          </a:ln>
        </p:spPr>
      </p:pic>
      <p:pic>
        <p:nvPicPr>
          <p:cNvPr id="14" name="Google Shape;158;p17">
            <a:extLst>
              <a:ext uri="{FF2B5EF4-FFF2-40B4-BE49-F238E27FC236}">
                <a16:creationId xmlns:a16="http://schemas.microsoft.com/office/drawing/2014/main" id="{28E88A1C-0CB5-6434-2A1D-9F668A7B0E22}"/>
              </a:ext>
            </a:extLst>
          </p:cNvPr>
          <p:cNvPicPr preferRelativeResize="0"/>
          <p:nvPr/>
        </p:nvPicPr>
        <p:blipFill rotWithShape="1">
          <a:blip r:embed="rId8">
            <a:alphaModFix/>
          </a:blip>
          <a:srcRect/>
          <a:stretch/>
        </p:blipFill>
        <p:spPr>
          <a:xfrm>
            <a:off x="771525" y="2219325"/>
            <a:ext cx="114300" cy="200025"/>
          </a:xfrm>
          <a:prstGeom prst="rect">
            <a:avLst/>
          </a:prstGeom>
          <a:noFill/>
          <a:ln>
            <a:noFill/>
          </a:ln>
        </p:spPr>
      </p:pic>
      <p:pic>
        <p:nvPicPr>
          <p:cNvPr id="15" name="Google Shape;159;p17">
            <a:extLst>
              <a:ext uri="{FF2B5EF4-FFF2-40B4-BE49-F238E27FC236}">
                <a16:creationId xmlns:a16="http://schemas.microsoft.com/office/drawing/2014/main" id="{9E4C6E2E-B19E-CECD-863B-E3DCA39A1DC0}"/>
              </a:ext>
            </a:extLst>
          </p:cNvPr>
          <p:cNvPicPr preferRelativeResize="0"/>
          <p:nvPr/>
        </p:nvPicPr>
        <p:blipFill rotWithShape="1">
          <a:blip r:embed="rId8">
            <a:alphaModFix/>
          </a:blip>
          <a:srcRect/>
          <a:stretch/>
        </p:blipFill>
        <p:spPr>
          <a:xfrm>
            <a:off x="771525" y="2981325"/>
            <a:ext cx="114300" cy="200025"/>
          </a:xfrm>
          <a:prstGeom prst="rect">
            <a:avLst/>
          </a:prstGeom>
          <a:noFill/>
          <a:ln>
            <a:noFill/>
          </a:ln>
        </p:spPr>
      </p:pic>
      <p:pic>
        <p:nvPicPr>
          <p:cNvPr id="16" name="Google Shape;160;p17">
            <a:extLst>
              <a:ext uri="{FF2B5EF4-FFF2-40B4-BE49-F238E27FC236}">
                <a16:creationId xmlns:a16="http://schemas.microsoft.com/office/drawing/2014/main" id="{DD5A957D-079C-006D-3924-CCE867233137}"/>
              </a:ext>
            </a:extLst>
          </p:cNvPr>
          <p:cNvPicPr preferRelativeResize="0"/>
          <p:nvPr/>
        </p:nvPicPr>
        <p:blipFill rotWithShape="1">
          <a:blip r:embed="rId8">
            <a:alphaModFix/>
          </a:blip>
          <a:srcRect/>
          <a:stretch/>
        </p:blipFill>
        <p:spPr>
          <a:xfrm>
            <a:off x="771525" y="3743325"/>
            <a:ext cx="114300" cy="200025"/>
          </a:xfrm>
          <a:prstGeom prst="rect">
            <a:avLst/>
          </a:prstGeom>
          <a:noFill/>
          <a:ln>
            <a:noFill/>
          </a:ln>
        </p:spPr>
      </p:pic>
      <p:sp>
        <p:nvSpPr>
          <p:cNvPr id="17" name="AutoShape 2">
            <a:extLst>
              <a:ext uri="{FF2B5EF4-FFF2-40B4-BE49-F238E27FC236}">
                <a16:creationId xmlns:a16="http://schemas.microsoft.com/office/drawing/2014/main" id="{F987B46D-07C1-7371-E21A-3DF8E0609C2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Picture 19">
            <a:extLst>
              <a:ext uri="{FF2B5EF4-FFF2-40B4-BE49-F238E27FC236}">
                <a16:creationId xmlns:a16="http://schemas.microsoft.com/office/drawing/2014/main" id="{D6353C31-95C7-FC74-27AB-3DB85E14435C}"/>
              </a:ext>
            </a:extLst>
          </p:cNvPr>
          <p:cNvPicPr>
            <a:picLocks noChangeAspect="1"/>
          </p:cNvPicPr>
          <p:nvPr/>
        </p:nvPicPr>
        <p:blipFill>
          <a:blip r:embed="rId9"/>
          <a:stretch>
            <a:fillRect/>
          </a:stretch>
        </p:blipFill>
        <p:spPr>
          <a:xfrm>
            <a:off x="2035629" y="4865830"/>
            <a:ext cx="8128000" cy="1641883"/>
          </a:xfrm>
          <a:prstGeom prst="rect">
            <a:avLst/>
          </a:prstGeom>
        </p:spPr>
      </p:pic>
    </p:spTree>
    <p:extLst>
      <p:ext uri="{BB962C8B-B14F-4D97-AF65-F5344CB8AC3E}">
        <p14:creationId xmlns:p14="http://schemas.microsoft.com/office/powerpoint/2010/main" val="323100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2916844" y="2863029"/>
            <a:ext cx="6471919" cy="14598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6600" b="1" dirty="0">
                <a:latin typeface="Corbel" panose="020B0503020204020204" pitchFamily="34" charset="0"/>
                <a:ea typeface="Arial" charset="0"/>
                <a:cs typeface="Arial" charset="0"/>
              </a:rPr>
              <a:t>QUESTIONS?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9920" y="26962"/>
            <a:ext cx="787333" cy="851874"/>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fld id="{60CB7500-84E7-42C8-9A57-AC33187A24A8}" type="slidenum">
              <a:rPr lang="en-GB" smtClean="0"/>
              <a:t>6</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CCACE4D8-B727-00FB-6E4F-4CF49BCB0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202497"/>
            <a:ext cx="1028700" cy="476250"/>
          </a:xfrm>
          <a:prstGeom prst="rect">
            <a:avLst/>
          </a:prstGeom>
        </p:spPr>
      </p:pic>
    </p:spTree>
    <p:extLst>
      <p:ext uri="{BB962C8B-B14F-4D97-AF65-F5344CB8AC3E}">
        <p14:creationId xmlns:p14="http://schemas.microsoft.com/office/powerpoint/2010/main" val="3662799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1844632" y="553524"/>
            <a:ext cx="7828767" cy="21294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6600" b="1" dirty="0">
                <a:latin typeface="Corbel" panose="020B0503020204020204" pitchFamily="34" charset="0"/>
                <a:ea typeface="Arial" charset="0"/>
                <a:cs typeface="Arial" charset="0"/>
              </a:rPr>
              <a:t>Thank you for listening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53800" y="77274"/>
            <a:ext cx="719178" cy="778132"/>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fld id="{60CB7500-84E7-42C8-9A57-AC33187A24A8}" type="slidenum">
              <a:rPr lang="en-GB" smtClean="0"/>
              <a:t>7</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A030377E-0F32-F427-E999-860F55DEB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77274"/>
            <a:ext cx="1028700" cy="476250"/>
          </a:xfrm>
          <a:prstGeom prst="rect">
            <a:avLst/>
          </a:prstGeom>
        </p:spPr>
      </p:pic>
      <p:sp>
        <p:nvSpPr>
          <p:cNvPr id="6" name="Google Shape;185;p20">
            <a:extLst>
              <a:ext uri="{FF2B5EF4-FFF2-40B4-BE49-F238E27FC236}">
                <a16:creationId xmlns:a16="http://schemas.microsoft.com/office/drawing/2014/main" id="{A489EFB5-3B50-3D17-AD2E-89015E74E721}"/>
              </a:ext>
            </a:extLst>
          </p:cNvPr>
          <p:cNvSpPr/>
          <p:nvPr/>
        </p:nvSpPr>
        <p:spPr>
          <a:xfrm>
            <a:off x="1652587" y="3500842"/>
            <a:ext cx="5686425" cy="7715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186;p20">
            <a:extLst>
              <a:ext uri="{FF2B5EF4-FFF2-40B4-BE49-F238E27FC236}">
                <a16:creationId xmlns:a16="http://schemas.microsoft.com/office/drawing/2014/main" id="{F254699E-7DDB-2BB0-EAC6-3464F1B6E0A7}"/>
              </a:ext>
            </a:extLst>
          </p:cNvPr>
          <p:cNvSpPr/>
          <p:nvPr/>
        </p:nvSpPr>
        <p:spPr>
          <a:xfrm>
            <a:off x="1652587" y="4272367"/>
            <a:ext cx="5686425" cy="7715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Google Shape;191;p20">
            <a:extLst>
              <a:ext uri="{FF2B5EF4-FFF2-40B4-BE49-F238E27FC236}">
                <a16:creationId xmlns:a16="http://schemas.microsoft.com/office/drawing/2014/main" id="{2C490522-0DAB-CE94-F045-78B2211A701B}"/>
              </a:ext>
            </a:extLst>
          </p:cNvPr>
          <p:cNvSpPr/>
          <p:nvPr/>
        </p:nvSpPr>
        <p:spPr>
          <a:xfrm>
            <a:off x="1652587" y="4262842"/>
            <a:ext cx="5686425" cy="9525"/>
          </a:xfrm>
          <a:prstGeom prst="rect">
            <a:avLst/>
          </a:prstGeom>
          <a:solidFill>
            <a:srgbClr val="75757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 name="Google Shape;192;p20">
            <a:extLst>
              <a:ext uri="{FF2B5EF4-FFF2-40B4-BE49-F238E27FC236}">
                <a16:creationId xmlns:a16="http://schemas.microsoft.com/office/drawing/2014/main" id="{1931FFAA-5607-AC76-BB8E-24A20426F837}"/>
              </a:ext>
            </a:extLst>
          </p:cNvPr>
          <p:cNvSpPr/>
          <p:nvPr/>
        </p:nvSpPr>
        <p:spPr>
          <a:xfrm>
            <a:off x="1652587" y="4262842"/>
            <a:ext cx="5686425" cy="9525"/>
          </a:xfrm>
          <a:prstGeom prst="rect">
            <a:avLst/>
          </a:prstGeom>
          <a:solidFill>
            <a:srgbClr val="75757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193;p20">
            <a:extLst>
              <a:ext uri="{FF2B5EF4-FFF2-40B4-BE49-F238E27FC236}">
                <a16:creationId xmlns:a16="http://schemas.microsoft.com/office/drawing/2014/main" id="{3921EDB0-C405-9CC2-65DC-5262FF28DB41}"/>
              </a:ext>
            </a:extLst>
          </p:cNvPr>
          <p:cNvSpPr/>
          <p:nvPr/>
        </p:nvSpPr>
        <p:spPr>
          <a:xfrm>
            <a:off x="1652587" y="5034367"/>
            <a:ext cx="5686425" cy="9525"/>
          </a:xfrm>
          <a:prstGeom prst="rect">
            <a:avLst/>
          </a:prstGeom>
          <a:solidFill>
            <a:srgbClr val="75757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94;p20">
            <a:extLst>
              <a:ext uri="{FF2B5EF4-FFF2-40B4-BE49-F238E27FC236}">
                <a16:creationId xmlns:a16="http://schemas.microsoft.com/office/drawing/2014/main" id="{3C8DC481-0F73-E29A-934F-46E31DF339D5}"/>
              </a:ext>
            </a:extLst>
          </p:cNvPr>
          <p:cNvSpPr/>
          <p:nvPr/>
        </p:nvSpPr>
        <p:spPr>
          <a:xfrm>
            <a:off x="1652587" y="5034367"/>
            <a:ext cx="5686425" cy="9525"/>
          </a:xfrm>
          <a:prstGeom prst="rect">
            <a:avLst/>
          </a:prstGeom>
          <a:solidFill>
            <a:srgbClr val="757575"/>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 name="Google Shape;201;p20">
            <a:extLst>
              <a:ext uri="{FF2B5EF4-FFF2-40B4-BE49-F238E27FC236}">
                <a16:creationId xmlns:a16="http://schemas.microsoft.com/office/drawing/2014/main" id="{EB383ABA-ADA5-1B7E-F499-9024A9F70C71}"/>
              </a:ext>
            </a:extLst>
          </p:cNvPr>
          <p:cNvPicPr preferRelativeResize="0"/>
          <p:nvPr/>
        </p:nvPicPr>
        <p:blipFill rotWithShape="1">
          <a:blip r:embed="rId4">
            <a:alphaModFix/>
          </a:blip>
          <a:srcRect/>
          <a:stretch/>
        </p:blipFill>
        <p:spPr>
          <a:xfrm>
            <a:off x="1652587" y="3643717"/>
            <a:ext cx="857250" cy="476250"/>
          </a:xfrm>
          <a:prstGeom prst="rect">
            <a:avLst/>
          </a:prstGeom>
          <a:noFill/>
          <a:ln>
            <a:noFill/>
          </a:ln>
        </p:spPr>
      </p:pic>
      <p:sp>
        <p:nvSpPr>
          <p:cNvPr id="14" name="Google Shape;202;p20">
            <a:extLst>
              <a:ext uri="{FF2B5EF4-FFF2-40B4-BE49-F238E27FC236}">
                <a16:creationId xmlns:a16="http://schemas.microsoft.com/office/drawing/2014/main" id="{1D939B34-72E6-C521-4A81-80B6814F3EE8}"/>
              </a:ext>
            </a:extLst>
          </p:cNvPr>
          <p:cNvSpPr txBox="1"/>
          <p:nvPr/>
        </p:nvSpPr>
        <p:spPr>
          <a:xfrm>
            <a:off x="2747962" y="3650861"/>
            <a:ext cx="4591050" cy="18573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49948"/>
              </a:lnSpc>
              <a:spcBef>
                <a:spcPts val="0"/>
              </a:spcBef>
              <a:spcAft>
                <a:spcPts val="0"/>
              </a:spcAft>
              <a:buNone/>
            </a:pPr>
            <a:r>
              <a:rPr lang="en-US" sz="975" b="0" i="0" u="none" strike="noStrike" cap="none" dirty="0">
                <a:solidFill>
                  <a:srgbClr val="475569"/>
                </a:solidFill>
                <a:latin typeface="Inter"/>
                <a:ea typeface="Inter"/>
                <a:cs typeface="Inter"/>
                <a:sym typeface="Inter"/>
              </a:rPr>
              <a:t>https://witestlab.poly.edu/blog/content/images/2025/07/tcp-one-1.svg</a:t>
            </a:r>
            <a:endParaRPr dirty="0"/>
          </a:p>
        </p:txBody>
      </p:sp>
      <p:sp>
        <p:nvSpPr>
          <p:cNvPr id="15" name="Google Shape;203;p20">
            <a:extLst>
              <a:ext uri="{FF2B5EF4-FFF2-40B4-BE49-F238E27FC236}">
                <a16:creationId xmlns:a16="http://schemas.microsoft.com/office/drawing/2014/main" id="{CAFA7ACE-39D5-3BF4-3BE0-BC3386EF2099}"/>
              </a:ext>
            </a:extLst>
          </p:cNvPr>
          <p:cNvSpPr txBox="1"/>
          <p:nvPr/>
        </p:nvSpPr>
        <p:spPr>
          <a:xfrm>
            <a:off x="2747962" y="3884223"/>
            <a:ext cx="4591050" cy="228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200" b="0" i="0" u="none" strike="noStrike" cap="none">
                <a:solidFill>
                  <a:srgbClr val="475569"/>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witestlab.poly.edu</a:t>
            </a:r>
            <a:endParaRPr/>
          </a:p>
        </p:txBody>
      </p:sp>
      <p:pic>
        <p:nvPicPr>
          <p:cNvPr id="16" name="Google Shape;204;p20">
            <a:extLst>
              <a:ext uri="{FF2B5EF4-FFF2-40B4-BE49-F238E27FC236}">
                <a16:creationId xmlns:a16="http://schemas.microsoft.com/office/drawing/2014/main" id="{D498F2CE-0F50-1504-51A0-BAF1BC466697}"/>
              </a:ext>
            </a:extLst>
          </p:cNvPr>
          <p:cNvPicPr preferRelativeResize="0"/>
          <p:nvPr/>
        </p:nvPicPr>
        <p:blipFill rotWithShape="1">
          <a:blip r:embed="rId5">
            <a:alphaModFix/>
          </a:blip>
          <a:srcRect/>
          <a:stretch/>
        </p:blipFill>
        <p:spPr>
          <a:xfrm>
            <a:off x="1652587" y="4415242"/>
            <a:ext cx="857250" cy="476250"/>
          </a:xfrm>
          <a:prstGeom prst="rect">
            <a:avLst/>
          </a:prstGeom>
          <a:noFill/>
          <a:ln>
            <a:noFill/>
          </a:ln>
        </p:spPr>
      </p:pic>
      <p:sp>
        <p:nvSpPr>
          <p:cNvPr id="17" name="Google Shape;205;p20">
            <a:extLst>
              <a:ext uri="{FF2B5EF4-FFF2-40B4-BE49-F238E27FC236}">
                <a16:creationId xmlns:a16="http://schemas.microsoft.com/office/drawing/2014/main" id="{78602C62-317A-FB66-5E3B-BF0BFEC44498}"/>
              </a:ext>
            </a:extLst>
          </p:cNvPr>
          <p:cNvSpPr txBox="1"/>
          <p:nvPr/>
        </p:nvSpPr>
        <p:spPr>
          <a:xfrm>
            <a:off x="2747962" y="4422386"/>
            <a:ext cx="4591050" cy="18573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49948"/>
              </a:lnSpc>
              <a:spcBef>
                <a:spcPts val="0"/>
              </a:spcBef>
              <a:spcAft>
                <a:spcPts val="0"/>
              </a:spcAft>
              <a:buNone/>
            </a:pPr>
            <a:r>
              <a:rPr lang="en-US" sz="975" b="0" i="0" u="none" strike="noStrike" cap="none" dirty="0">
                <a:solidFill>
                  <a:srgbClr val="475569"/>
                </a:solidFill>
                <a:latin typeface="Inter"/>
                <a:ea typeface="Inter"/>
                <a:cs typeface="Inter"/>
                <a:sym typeface="Inter"/>
              </a:rPr>
              <a:t>https://i.sstatic.net/cJDMC.png</a:t>
            </a:r>
            <a:endParaRPr dirty="0"/>
          </a:p>
        </p:txBody>
      </p:sp>
      <p:sp>
        <p:nvSpPr>
          <p:cNvPr id="18" name="Google Shape;206;p20">
            <a:extLst>
              <a:ext uri="{FF2B5EF4-FFF2-40B4-BE49-F238E27FC236}">
                <a16:creationId xmlns:a16="http://schemas.microsoft.com/office/drawing/2014/main" id="{725A8B4F-0682-6156-1CCE-91F6A881B688}"/>
              </a:ext>
            </a:extLst>
          </p:cNvPr>
          <p:cNvSpPr txBox="1"/>
          <p:nvPr/>
        </p:nvSpPr>
        <p:spPr>
          <a:xfrm>
            <a:off x="2747962" y="4655748"/>
            <a:ext cx="4591050" cy="228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200" b="0" i="0" u="none" strike="noStrike" cap="none">
                <a:solidFill>
                  <a:srgbClr val="475569"/>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stackoverflow.com</a:t>
            </a:r>
            <a:endParaRPr/>
          </a:p>
        </p:txBody>
      </p:sp>
      <p:pic>
        <p:nvPicPr>
          <p:cNvPr id="19" name="Google Shape;207;p20">
            <a:extLst>
              <a:ext uri="{FF2B5EF4-FFF2-40B4-BE49-F238E27FC236}">
                <a16:creationId xmlns:a16="http://schemas.microsoft.com/office/drawing/2014/main" id="{4185FA2C-270C-FB88-70F6-2BD491246A52}"/>
              </a:ext>
            </a:extLst>
          </p:cNvPr>
          <p:cNvPicPr preferRelativeResize="0"/>
          <p:nvPr/>
        </p:nvPicPr>
        <p:blipFill rotWithShape="1">
          <a:blip r:embed="rId6">
            <a:alphaModFix/>
          </a:blip>
          <a:srcRect/>
          <a:stretch/>
        </p:blipFill>
        <p:spPr>
          <a:xfrm>
            <a:off x="1652587" y="5186767"/>
            <a:ext cx="857250" cy="476250"/>
          </a:xfrm>
          <a:prstGeom prst="rect">
            <a:avLst/>
          </a:prstGeom>
          <a:noFill/>
          <a:ln>
            <a:noFill/>
          </a:ln>
        </p:spPr>
      </p:pic>
      <p:sp>
        <p:nvSpPr>
          <p:cNvPr id="20" name="Google Shape;208;p20">
            <a:extLst>
              <a:ext uri="{FF2B5EF4-FFF2-40B4-BE49-F238E27FC236}">
                <a16:creationId xmlns:a16="http://schemas.microsoft.com/office/drawing/2014/main" id="{4AB68E8A-4BE3-41EB-11AD-E019D240EF3F}"/>
              </a:ext>
            </a:extLst>
          </p:cNvPr>
          <p:cNvSpPr txBox="1"/>
          <p:nvPr/>
        </p:nvSpPr>
        <p:spPr>
          <a:xfrm>
            <a:off x="2747962" y="5193911"/>
            <a:ext cx="4591050" cy="18573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49948"/>
              </a:lnSpc>
              <a:spcBef>
                <a:spcPts val="0"/>
              </a:spcBef>
              <a:spcAft>
                <a:spcPts val="0"/>
              </a:spcAft>
              <a:buNone/>
            </a:pPr>
            <a:r>
              <a:rPr lang="en-US" sz="975" b="0" i="0" u="none" strike="noStrike" cap="none" dirty="0">
                <a:solidFill>
                  <a:srgbClr val="475569"/>
                </a:solidFill>
                <a:latin typeface="Inter"/>
                <a:ea typeface="Inter"/>
                <a:cs typeface="Inter"/>
                <a:sym typeface="Inter"/>
              </a:rPr>
              <a:t>https://miro.medium.com/v2/resize:fit:1400/1*pSq718ln94kVTrrFC_CAqA.png</a:t>
            </a:r>
            <a:endParaRPr dirty="0"/>
          </a:p>
        </p:txBody>
      </p:sp>
      <p:sp>
        <p:nvSpPr>
          <p:cNvPr id="21" name="Google Shape;209;p20">
            <a:extLst>
              <a:ext uri="{FF2B5EF4-FFF2-40B4-BE49-F238E27FC236}">
                <a16:creationId xmlns:a16="http://schemas.microsoft.com/office/drawing/2014/main" id="{B4B1E5B4-7AF3-5755-2FC4-00E4CAB012FB}"/>
              </a:ext>
            </a:extLst>
          </p:cNvPr>
          <p:cNvSpPr txBox="1"/>
          <p:nvPr/>
        </p:nvSpPr>
        <p:spPr>
          <a:xfrm>
            <a:off x="2747962" y="5427273"/>
            <a:ext cx="4591050" cy="228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1200" b="0" i="0" u="none" strike="noStrike" cap="none" dirty="0">
                <a:solidFill>
                  <a:srgbClr val="475569"/>
                </a:solidFill>
                <a:latin typeface="Inter"/>
                <a:ea typeface="Inter"/>
                <a:cs typeface="Inter"/>
                <a:sym typeface="Inter"/>
              </a:rPr>
              <a:t>Source: </a:t>
            </a:r>
            <a:r>
              <a:rPr lang="en-US" sz="1200" b="0" i="0" u="none" strike="noStrike" cap="none" dirty="0">
                <a:solidFill>
                  <a:srgbClr val="4F46E5"/>
                </a:solidFill>
                <a:latin typeface="Inter"/>
                <a:ea typeface="Inter"/>
                <a:cs typeface="Inter"/>
                <a:sym typeface="Inter"/>
              </a:rPr>
              <a:t>medium.com</a:t>
            </a:r>
            <a:endParaRPr dirty="0"/>
          </a:p>
        </p:txBody>
      </p:sp>
      <p:sp>
        <p:nvSpPr>
          <p:cNvPr id="22" name="Google Shape;182;p20">
            <a:extLst>
              <a:ext uri="{FF2B5EF4-FFF2-40B4-BE49-F238E27FC236}">
                <a16:creationId xmlns:a16="http://schemas.microsoft.com/office/drawing/2014/main" id="{A834B2BC-1D3F-38A5-058F-1AFFA67A9F97}"/>
              </a:ext>
            </a:extLst>
          </p:cNvPr>
          <p:cNvSpPr txBox="1"/>
          <p:nvPr/>
        </p:nvSpPr>
        <p:spPr>
          <a:xfrm>
            <a:off x="1652587" y="3117461"/>
            <a:ext cx="7568765"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rtl="0">
              <a:spcBef>
                <a:spcPts val="0"/>
              </a:spcBef>
              <a:spcAft>
                <a:spcPts val="0"/>
              </a:spcAft>
              <a:buNone/>
            </a:pPr>
            <a:r>
              <a:rPr lang="en-US" sz="3000" b="1" i="0" u="none" strike="noStrike" cap="none" dirty="0">
                <a:solidFill>
                  <a:schemeClr val="tx1"/>
                </a:solidFill>
                <a:latin typeface="Corbel" panose="020B0503020204020204" pitchFamily="34" charset="0"/>
                <a:ea typeface="Orbitron"/>
                <a:cs typeface="Orbitron"/>
                <a:sym typeface="Orbitron"/>
              </a:rPr>
              <a:t>IMAGE SOURCES</a:t>
            </a:r>
            <a:endParaRPr sz="3000" dirty="0">
              <a:solidFill>
                <a:schemeClr val="tx1"/>
              </a:solidFill>
              <a:latin typeface="Corbel" panose="020B0503020204020204" pitchFamily="34" charset="0"/>
            </a:endParaRPr>
          </a:p>
        </p:txBody>
      </p:sp>
    </p:spTree>
    <p:extLst>
      <p:ext uri="{BB962C8B-B14F-4D97-AF65-F5344CB8AC3E}">
        <p14:creationId xmlns:p14="http://schemas.microsoft.com/office/powerpoint/2010/main" val="3221025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2359</TotalTime>
  <Words>353</Words>
  <Application>Microsoft Office PowerPoint</Application>
  <PresentationFormat>Widescreen</PresentationFormat>
  <Paragraphs>49</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MULTI-AGENT REINFORCEMENT LEARNING FOR ADAPTIVE TCP CONGESTION CONTROL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CHECKLIST FOR PRESENTERS   cover slide: please provide us with your name, your department and your nationality. Do not change any of the logos or the layout of the cover slide and enter your information only in the placeholders provided using the same font/siz  first content slide: explain the particular cyber security challenge you want to solve as the problem domain.  second content slide: make sure to explain your proposed solution to combating cyber crime in Nigeria. Restrict your solution to a single point that can be developed further in a full blown research work.  Please keep in mind that you have 5min to make your presentation before the question and answer section will commence.</dc:title>
  <dc:creator>Amadi</dc:creator>
  <cp:lastModifiedBy>Kosisochukwu Okafor</cp:lastModifiedBy>
  <cp:revision>33</cp:revision>
  <cp:lastPrinted>2018-08-23T20:36:32Z</cp:lastPrinted>
  <dcterms:created xsi:type="dcterms:W3CDTF">2018-07-05T09:04:15Z</dcterms:created>
  <dcterms:modified xsi:type="dcterms:W3CDTF">2026-04-28T10:32:55Z</dcterms:modified>
</cp:coreProperties>
</file>